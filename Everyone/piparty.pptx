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80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460"/>
    <p:restoredTop sz="94694"/>
  </p:normalViewPr>
  <p:slideViewPr>
    <p:cSldViewPr snapToGrid="0">
      <p:cViewPr varScale="1">
        <p:scale>
          <a:sx n="94" d="100"/>
          <a:sy n="94" d="100"/>
        </p:scale>
        <p:origin x="216" y="6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11A6662E-FAF4-44BC-88B5-85A7CBFB6D30}" type="datetime1">
              <a:rPr lang="en-US" smtClean="0"/>
              <a:pPr/>
              <a:t>4/28/26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5006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4/28/26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94869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417D9E-721A-44BB-8863-9873FE64DA75}" type="datetime1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4517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4/28/26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722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4/28/26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8082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4/28/26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9646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4/28/26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270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4/28/26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568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4/28/26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895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4/28/26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8988421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4/28/26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6262743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4/28/26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6913186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4/28/26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1719121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4/28/26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8407386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4/28/26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8994693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75662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847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57E0CF6C-748E-4B7A-BC8B-3011EF78ED13}" type="datetime1">
              <a:rPr lang="en-US" smtClean="0"/>
              <a:pPr/>
              <a:t>4/28/26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846988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81" r:id="rId1"/>
    <p:sldLayoutId id="2147483782" r:id="rId2"/>
    <p:sldLayoutId id="2147483783" r:id="rId3"/>
    <p:sldLayoutId id="2147483784" r:id="rId4"/>
    <p:sldLayoutId id="2147483785" r:id="rId5"/>
    <p:sldLayoutId id="2147483786" r:id="rId6"/>
    <p:sldLayoutId id="2147483787" r:id="rId7"/>
    <p:sldLayoutId id="2147483788" r:id="rId8"/>
    <p:sldLayoutId id="2147483789" r:id="rId9"/>
    <p:sldLayoutId id="2147483790" r:id="rId10"/>
    <p:sldLayoutId id="2147483791" r:id="rId11"/>
    <p:sldLayoutId id="2147483792" r:id="rId12"/>
    <p:sldLayoutId id="2147483793" r:id="rId13"/>
    <p:sldLayoutId id="2147483794" r:id="rId14"/>
    <p:sldLayoutId id="2147483795" r:id="rId15"/>
    <p:sldLayoutId id="2147483796" r:id="rId16"/>
    <p:sldLayoutId id="2147483797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1045E83-A766-02D7-C66B-8309A51192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1000279" y="4493343"/>
            <a:ext cx="10905069" cy="501994"/>
          </a:xfrm>
        </p:spPr>
        <p:txBody>
          <a:bodyPr>
            <a:normAutofit/>
          </a:bodyPr>
          <a:lstStyle/>
          <a:p>
            <a:r>
              <a:rPr lang="en-US" dirty="0">
                <a:latin typeface="LEMON MILK Medium" pitchFamily="2" charset="77"/>
              </a:rPr>
              <a:t>Gabrielle , Micah </a:t>
            </a:r>
            <a:r>
              <a:rPr lang="en-US">
                <a:latin typeface="LEMON MILK Medium" pitchFamily="2" charset="77"/>
              </a:rPr>
              <a:t>, Thomas, </a:t>
            </a:r>
            <a:r>
              <a:rPr lang="en-US" dirty="0">
                <a:latin typeface="LEMON MILK Medium" pitchFamily="2" charset="77"/>
              </a:rPr>
              <a:t>and Izaiah </a:t>
            </a:r>
          </a:p>
        </p:txBody>
      </p:sp>
      <p:pic>
        <p:nvPicPr>
          <p:cNvPr id="8" name="Picture 7" descr="A blue text on a black background&#10;&#10;Description automatically generated">
            <a:extLst>
              <a:ext uri="{FF2B5EF4-FFF2-40B4-BE49-F238E27FC236}">
                <a16:creationId xmlns:a16="http://schemas.microsoft.com/office/drawing/2014/main" id="{F0D14F32-2B60-53C7-7E46-D383DB4D67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464" y="1071019"/>
            <a:ext cx="10909440" cy="3300105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929169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391C7-B68F-C63B-4634-B22A21B933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5128" y="0"/>
            <a:ext cx="10131425" cy="1456267"/>
          </a:xfrm>
        </p:spPr>
        <p:txBody>
          <a:bodyPr/>
          <a:lstStyle/>
          <a:p>
            <a:pPr algn="ctr"/>
            <a:r>
              <a:rPr lang="en-US" dirty="0">
                <a:latin typeface="LEMON MILK Medium" pitchFamily="2" charset="77"/>
              </a:rPr>
              <a:t>How the system operates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0396DC-2FB0-A957-1E7D-7A1C60E468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1" y="1187355"/>
            <a:ext cx="10710080" cy="5363570"/>
          </a:xfrm>
        </p:spPr>
        <p:txBody>
          <a:bodyPr>
            <a:normAutofit fontScale="92500"/>
          </a:bodyPr>
          <a:lstStyle/>
          <a:p>
            <a:r>
              <a:rPr lang="en-US" sz="2000" b="1" dirty="0">
                <a:latin typeface="LEMON MILK Medium" pitchFamily="2" charset="77"/>
              </a:rPr>
              <a:t>Client-Server Architecture:</a:t>
            </a:r>
            <a:r>
              <a:rPr lang="en-US" sz="2000" dirty="0">
                <a:latin typeface="LEMON MILK Medium" pitchFamily="2" charset="77"/>
              </a:rPr>
              <a:t> One Raspberry Pi acts as the </a:t>
            </a:r>
            <a:r>
              <a:rPr lang="en-US" sz="2000" b="1" dirty="0">
                <a:latin typeface="LEMON MILK Medium" pitchFamily="2" charset="77"/>
              </a:rPr>
              <a:t>Host</a:t>
            </a:r>
            <a:r>
              <a:rPr lang="en-US" sz="2000" dirty="0">
                <a:latin typeface="LEMON MILK Medium" pitchFamily="2" charset="77"/>
              </a:rPr>
              <a:t> (the brain), while all other </a:t>
            </a:r>
            <a:r>
              <a:rPr lang="en-US" sz="2000" dirty="0" err="1">
                <a:latin typeface="LEMON MILK Medium" pitchFamily="2" charset="77"/>
              </a:rPr>
              <a:t>Pis</a:t>
            </a:r>
            <a:r>
              <a:rPr lang="en-US" sz="2000" dirty="0">
                <a:latin typeface="LEMON MILK Medium" pitchFamily="2" charset="77"/>
              </a:rPr>
              <a:t> connect as </a:t>
            </a:r>
            <a:r>
              <a:rPr lang="en-US" sz="2000" b="1" dirty="0">
                <a:latin typeface="LEMON MILK Medium" pitchFamily="2" charset="77"/>
              </a:rPr>
              <a:t>Clients</a:t>
            </a:r>
            <a:r>
              <a:rPr lang="en-US" sz="2000" dirty="0">
                <a:latin typeface="LEMON MILK Medium" pitchFamily="2" charset="77"/>
              </a:rPr>
              <a:t> (the controllers).</a:t>
            </a:r>
          </a:p>
          <a:p>
            <a:r>
              <a:rPr lang="en-US" sz="2000" b="1" dirty="0">
                <a:latin typeface="LEMON MILK Medium" pitchFamily="2" charset="77"/>
              </a:rPr>
              <a:t>Star Topology:</a:t>
            </a:r>
            <a:r>
              <a:rPr lang="en-US" sz="2000" dirty="0">
                <a:latin typeface="LEMON MILK Medium" pitchFamily="2" charset="77"/>
              </a:rPr>
              <a:t> Every player communicates directly with the Host, ensuring all participants see the exact same game state at the same time.</a:t>
            </a:r>
          </a:p>
          <a:p>
            <a:r>
              <a:rPr lang="en-US" sz="2000" b="1" dirty="0">
                <a:latin typeface="LEMON MILK Medium" pitchFamily="2" charset="77"/>
              </a:rPr>
              <a:t>TCP/IP Networking:</a:t>
            </a:r>
            <a:r>
              <a:rPr lang="en-US" sz="2000" dirty="0">
                <a:latin typeface="LEMON MILK Medium" pitchFamily="2" charset="77"/>
              </a:rPr>
              <a:t> Uses "Transmission Control Protocol" to ensure game data (like moves and scores) arrives reliably and in the correct order across the local network.</a:t>
            </a:r>
          </a:p>
          <a:p>
            <a:r>
              <a:rPr lang="en-US" sz="2000" b="1" dirty="0">
                <a:latin typeface="LEMON MILK Medium" pitchFamily="2" charset="77"/>
              </a:rPr>
              <a:t>Terminal Rendering:</a:t>
            </a:r>
            <a:r>
              <a:rPr lang="en-US" sz="2000" dirty="0">
                <a:latin typeface="LEMON MILK Medium" pitchFamily="2" charset="77"/>
              </a:rPr>
              <a:t> Instead of heavy graphics, the system uses the </a:t>
            </a:r>
            <a:r>
              <a:rPr lang="en-US" sz="2000" b="1" dirty="0">
                <a:latin typeface="LEMON MILK Medium" pitchFamily="2" charset="77"/>
              </a:rPr>
              <a:t>Curses library</a:t>
            </a:r>
            <a:r>
              <a:rPr lang="en-US" sz="2000" dirty="0">
                <a:latin typeface="LEMON MILK Medium" pitchFamily="2" charset="77"/>
              </a:rPr>
              <a:t> to "draw" game boards and animations using text characters and colors.</a:t>
            </a:r>
          </a:p>
          <a:p>
            <a:r>
              <a:rPr lang="en-US" sz="2000" b="1" dirty="0">
                <a:latin typeface="LEMON MILK Medium" pitchFamily="2" charset="77"/>
              </a:rPr>
              <a:t>Non-Blocking Input:</a:t>
            </a:r>
            <a:r>
              <a:rPr lang="en-US" sz="2000" dirty="0">
                <a:latin typeface="LEMON MILK Medium" pitchFamily="2" charset="77"/>
              </a:rPr>
              <a:t> The system is programmed to keep the game moving (like ghosts chasing you) even if a player isn't pressing any buttons.</a:t>
            </a:r>
          </a:p>
          <a:p>
            <a:r>
              <a:rPr lang="en-US" sz="2000" b="1" dirty="0">
                <a:effectLst/>
                <a:latin typeface="LEMON MILK Medium" pitchFamily="2" charset="77"/>
              </a:rPr>
              <a:t>Automated Logic:</a:t>
            </a:r>
            <a:r>
              <a:rPr lang="en-US" sz="2000" dirty="0">
                <a:effectLst/>
                <a:latin typeface="LEMON MILK Medium" pitchFamily="2" charset="77"/>
              </a:rPr>
              <a:t> The Host runs pathfinding algorithms (BFS) for enemies, ensuring the game provides a consistent challenge for all connected players.</a:t>
            </a:r>
          </a:p>
        </p:txBody>
      </p:sp>
    </p:spTree>
    <p:extLst>
      <p:ext uri="{BB962C8B-B14F-4D97-AF65-F5344CB8AC3E}">
        <p14:creationId xmlns:p14="http://schemas.microsoft.com/office/powerpoint/2010/main" val="37562713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86E57-55B8-C0A1-DAFE-C2F25BA040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7813" y="0"/>
            <a:ext cx="10131425" cy="1456267"/>
          </a:xfrm>
        </p:spPr>
        <p:txBody>
          <a:bodyPr/>
          <a:lstStyle/>
          <a:p>
            <a:pPr algn="ctr"/>
            <a:r>
              <a:rPr lang="en-US" dirty="0">
                <a:latin typeface="LEMON MILK Medium" pitchFamily="2" charset="77"/>
              </a:rPr>
              <a:t>Game 1: Heads or 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391B9-889A-8D08-9198-6651E9FC3D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3309" y="1227667"/>
            <a:ext cx="6325856" cy="5323258"/>
          </a:xfrm>
        </p:spPr>
        <p:txBody>
          <a:bodyPr>
            <a:normAutofit/>
          </a:bodyPr>
          <a:lstStyle/>
          <a:p>
            <a:r>
              <a:rPr lang="en-US" sz="2000" b="1" dirty="0">
                <a:latin typeface="LEMON MILK Medium" pitchFamily="2" charset="77"/>
              </a:rPr>
              <a:t>Purpose:</a:t>
            </a:r>
            <a:r>
              <a:rPr lang="en-US" sz="2000" dirty="0">
                <a:latin typeface="LEMON MILK Medium" pitchFamily="2" charset="77"/>
              </a:rPr>
              <a:t> A quick-fire test of the network's ability to handle rapid-response binary choices and synchronized resolution.</a:t>
            </a:r>
          </a:p>
          <a:p>
            <a:r>
              <a:rPr lang="en-US" sz="2000" b="1" dirty="0">
                <a:latin typeface="LEMON MILK Medium" pitchFamily="2" charset="77"/>
              </a:rPr>
              <a:t>Python Functions &amp; Logic:</a:t>
            </a:r>
            <a:endParaRPr lang="en-US" sz="2000" dirty="0">
              <a:latin typeface="LEMON MILK Medium" pitchFamily="2" charset="77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 err="1">
                <a:latin typeface="LEMON MILK Medium" pitchFamily="2" charset="77"/>
              </a:rPr>
              <a:t>random.choice</a:t>
            </a:r>
            <a:r>
              <a:rPr lang="en-US" sz="2000" dirty="0">
                <a:latin typeface="LEMON MILK Medium" pitchFamily="2" charset="77"/>
              </a:rPr>
              <a:t>(['Heads', 'Tails']): Used by the server to determine the winning outcome.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latin typeface="LEMON MILK Medium" pitchFamily="2" charset="77"/>
              </a:rPr>
              <a:t>input().strip().upper(): Captures the player's choice and cleans the data before sending.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 err="1">
                <a:latin typeface="LEMON MILK Medium" pitchFamily="2" charset="77"/>
              </a:rPr>
              <a:t>send_data</a:t>
            </a:r>
            <a:r>
              <a:rPr lang="en-US" sz="2000" dirty="0">
                <a:latin typeface="LEMON MILK Medium" pitchFamily="2" charset="77"/>
              </a:rPr>
              <a:t>() / </a:t>
            </a:r>
            <a:r>
              <a:rPr lang="en-US" sz="2000" dirty="0" err="1">
                <a:latin typeface="LEMON MILK Medium" pitchFamily="2" charset="77"/>
              </a:rPr>
              <a:t>recv_data</a:t>
            </a:r>
            <a:r>
              <a:rPr lang="en-US" sz="2000" dirty="0">
                <a:latin typeface="LEMON MILK Medium" pitchFamily="2" charset="77"/>
              </a:rPr>
              <a:t>(): Custom wrapper functions for </a:t>
            </a:r>
            <a:r>
              <a:rPr lang="en-US" sz="2000" dirty="0" err="1">
                <a:latin typeface="LEMON MILK Medium" pitchFamily="2" charset="77"/>
              </a:rPr>
              <a:t>socket.send</a:t>
            </a:r>
            <a:r>
              <a:rPr lang="en-US" sz="2000" dirty="0">
                <a:latin typeface="LEMON MILK Medium" pitchFamily="2" charset="77"/>
              </a:rPr>
              <a:t>() and </a:t>
            </a:r>
            <a:r>
              <a:rPr lang="en-US" sz="2000" dirty="0" err="1">
                <a:latin typeface="LEMON MILK Medium" pitchFamily="2" charset="77"/>
              </a:rPr>
              <a:t>socket.recv</a:t>
            </a:r>
            <a:r>
              <a:rPr lang="en-US" sz="2000" dirty="0">
                <a:latin typeface="LEMON MILK Medium" pitchFamily="2" charset="77"/>
              </a:rPr>
              <a:t>() to exchange JSON packets between the Pi and the Host.</a:t>
            </a:r>
          </a:p>
        </p:txBody>
      </p:sp>
    </p:spTree>
    <p:extLst>
      <p:ext uri="{BB962C8B-B14F-4D97-AF65-F5344CB8AC3E}">
        <p14:creationId xmlns:p14="http://schemas.microsoft.com/office/powerpoint/2010/main" val="3325584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62EAB-D3DB-4FB2-0244-B94A8DEDBB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0287" y="0"/>
            <a:ext cx="10131425" cy="1456267"/>
          </a:xfrm>
        </p:spPr>
        <p:txBody>
          <a:bodyPr/>
          <a:lstStyle/>
          <a:p>
            <a:pPr algn="ctr"/>
            <a:r>
              <a:rPr lang="en-US" dirty="0">
                <a:latin typeface="LEMON MILK Medium" pitchFamily="2" charset="77"/>
              </a:rPr>
              <a:t>Game 2: Rock, Paper, Scissors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5F541E-271E-0724-1931-86212C0461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3307" y="1241947"/>
            <a:ext cx="6667051" cy="5322626"/>
          </a:xfrm>
        </p:spPr>
        <p:txBody>
          <a:bodyPr>
            <a:noAutofit/>
          </a:bodyPr>
          <a:lstStyle/>
          <a:p>
            <a:r>
              <a:rPr lang="en-US" sz="2000" b="1" dirty="0">
                <a:latin typeface="LEMON MILK Medium" pitchFamily="2" charset="77"/>
              </a:rPr>
              <a:t>Purpose:</a:t>
            </a:r>
            <a:r>
              <a:rPr lang="en-US" sz="2000" dirty="0">
                <a:latin typeface="LEMON MILK Medium" pitchFamily="2" charset="77"/>
              </a:rPr>
              <a:t> Demonstrates server-side logic validation where the Host must compare multiple client inputs against a central "AI" move.</a:t>
            </a:r>
          </a:p>
          <a:p>
            <a:r>
              <a:rPr lang="en-US" sz="2000" b="1" dirty="0">
                <a:latin typeface="LEMON MILK Medium" pitchFamily="2" charset="77"/>
              </a:rPr>
              <a:t>Python Functions &amp; Logic:</a:t>
            </a:r>
            <a:endParaRPr lang="en-US" sz="2000" dirty="0">
              <a:latin typeface="LEMON MILK Medium" pitchFamily="2" charset="77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>
                <a:latin typeface="LEMON MILK Medium" pitchFamily="2" charset="77"/>
              </a:rPr>
              <a:t>Logic Mapping:</a:t>
            </a:r>
            <a:r>
              <a:rPr lang="en-US" sz="2000" dirty="0">
                <a:latin typeface="LEMON MILK Medium" pitchFamily="2" charset="77"/>
              </a:rPr>
              <a:t> Uses a Dictionary or Nested if/</a:t>
            </a:r>
            <a:r>
              <a:rPr lang="en-US" sz="2000" dirty="0" err="1">
                <a:latin typeface="LEMON MILK Medium" pitchFamily="2" charset="77"/>
              </a:rPr>
              <a:t>elif</a:t>
            </a:r>
            <a:r>
              <a:rPr lang="en-US" sz="2000" dirty="0">
                <a:latin typeface="LEMON MILK Medium" pitchFamily="2" charset="77"/>
              </a:rPr>
              <a:t> statements to define win/loss/tie conditions (e.g., if user == 'R' and computer == 'S').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 err="1">
                <a:latin typeface="LEMON MILK Medium" pitchFamily="2" charset="77"/>
              </a:rPr>
              <a:t>time.sleep</a:t>
            </a:r>
            <a:r>
              <a:rPr lang="en-US" sz="2000" dirty="0">
                <a:latin typeface="LEMON MILK Medium" pitchFamily="2" charset="77"/>
              </a:rPr>
              <a:t>(): Orchestrates the "Rock... Paper... Scissors... Shoot!" countdown across all connected terminals.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 err="1">
                <a:latin typeface="LEMON MILK Medium" pitchFamily="2" charset="77"/>
              </a:rPr>
              <a:t>json.dumps</a:t>
            </a:r>
            <a:r>
              <a:rPr lang="en-US" sz="2000" dirty="0">
                <a:latin typeface="LEMON MILK Medium" pitchFamily="2" charset="77"/>
              </a:rPr>
              <a:t>(): Converts the player's move into a string format that can be transmitted over the TCP socket.</a:t>
            </a:r>
          </a:p>
        </p:txBody>
      </p:sp>
    </p:spTree>
    <p:extLst>
      <p:ext uri="{BB962C8B-B14F-4D97-AF65-F5344CB8AC3E}">
        <p14:creationId xmlns:p14="http://schemas.microsoft.com/office/powerpoint/2010/main" val="29995273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42326-DBAC-BF29-1836-A87FB0EBB8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4984" y="0"/>
            <a:ext cx="10131425" cy="1456267"/>
          </a:xfrm>
        </p:spPr>
        <p:txBody>
          <a:bodyPr/>
          <a:lstStyle/>
          <a:p>
            <a:pPr algn="ctr"/>
            <a:r>
              <a:rPr lang="en-US" dirty="0">
                <a:latin typeface="LEMON MILK Medium" pitchFamily="2" charset="77"/>
              </a:rPr>
              <a:t>Game 3: Number Guessing Game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1EF74D-BDF3-8191-70E1-93C5FFCAC5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0143" y="1357952"/>
            <a:ext cx="5837828" cy="5500048"/>
          </a:xfrm>
        </p:spPr>
        <p:txBody>
          <a:bodyPr>
            <a:normAutofit lnSpcReduction="10000"/>
          </a:bodyPr>
          <a:lstStyle/>
          <a:p>
            <a:r>
              <a:rPr lang="en-US" sz="2000" b="1" dirty="0">
                <a:latin typeface="LEMON MILK Medium" pitchFamily="2" charset="77"/>
              </a:rPr>
              <a:t>Purpose:</a:t>
            </a:r>
            <a:r>
              <a:rPr lang="en-US" sz="2000" dirty="0">
                <a:latin typeface="LEMON MILK Medium" pitchFamily="2" charset="77"/>
              </a:rPr>
              <a:t> Showcases mathematical processing and "Shortest Distance" algorithms to determine a winner among multiple participants.</a:t>
            </a:r>
          </a:p>
          <a:p>
            <a:r>
              <a:rPr lang="en-US" sz="2000" b="1" dirty="0">
                <a:latin typeface="LEMON MILK Medium" pitchFamily="2" charset="77"/>
              </a:rPr>
              <a:t>Python Functions &amp; Logic:</a:t>
            </a:r>
            <a:endParaRPr lang="en-US" sz="2000" dirty="0">
              <a:latin typeface="LEMON MILK Medium" pitchFamily="2" charset="77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 err="1">
                <a:latin typeface="LEMON MILK Medium" pitchFamily="2" charset="77"/>
              </a:rPr>
              <a:t>random.randint</a:t>
            </a:r>
            <a:r>
              <a:rPr lang="en-US" sz="2000" dirty="0">
                <a:latin typeface="LEMON MILK Medium" pitchFamily="2" charset="77"/>
              </a:rPr>
              <a:t>(1, 100): Generates the secret target number on the Host machine.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latin typeface="LEMON MILK Medium" pitchFamily="2" charset="77"/>
              </a:rPr>
              <a:t>abs(target - guess): The </a:t>
            </a:r>
            <a:r>
              <a:rPr lang="en-US" sz="2000" b="1" dirty="0">
                <a:latin typeface="LEMON MILK Medium" pitchFamily="2" charset="77"/>
              </a:rPr>
              <a:t>Absolute Value</a:t>
            </a:r>
            <a:r>
              <a:rPr lang="en-US" sz="2000" dirty="0">
                <a:latin typeface="LEMON MILK Medium" pitchFamily="2" charset="77"/>
              </a:rPr>
              <a:t> function calculates how far each player is from the target, regardless of whether they guessed too high or too low.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latin typeface="LEMON MILK Medium" pitchFamily="2" charset="77"/>
              </a:rPr>
              <a:t>min(): Applied to a list of player distances to identify the "closest" guess and declare the round winner.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30543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1D203-A7E3-C34F-CA74-8ADCC5ED3A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1" y="0"/>
            <a:ext cx="10131425" cy="1456267"/>
          </a:xfrm>
        </p:spPr>
        <p:txBody>
          <a:bodyPr/>
          <a:lstStyle/>
          <a:p>
            <a:pPr algn="ctr"/>
            <a:r>
              <a:rPr lang="en-US" dirty="0">
                <a:latin typeface="LEMON MILK Medium" pitchFamily="2" charset="77"/>
              </a:rPr>
              <a:t>GAME 4: Snake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CD8A19-F294-BFD1-0AD1-A6CF635D79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604433"/>
            <a:ext cx="10131425" cy="4414230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41920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091F7-D7FE-B7C7-ECC9-B0913A5420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3773" y="-168576"/>
            <a:ext cx="10131425" cy="1456267"/>
          </a:xfrm>
        </p:spPr>
        <p:txBody>
          <a:bodyPr/>
          <a:lstStyle/>
          <a:p>
            <a:pPr algn="ctr"/>
            <a:r>
              <a:rPr lang="en-US" dirty="0">
                <a:latin typeface="LEMON MILK Medium" pitchFamily="2" charset="77"/>
              </a:rPr>
              <a:t>Game 5: Pacman chase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EEF44-59CE-0CD3-1830-0756147089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9623" y="1037229"/>
            <a:ext cx="7882555" cy="5459105"/>
          </a:xfrm>
        </p:spPr>
        <p:txBody>
          <a:bodyPr>
            <a:noAutofit/>
          </a:bodyPr>
          <a:lstStyle/>
          <a:p>
            <a:r>
              <a:rPr lang="en-US" b="1" dirty="0">
                <a:latin typeface="LEMON MILK Medium" pitchFamily="2" charset="77"/>
              </a:rPr>
              <a:t>Purpose:</a:t>
            </a:r>
            <a:r>
              <a:rPr lang="en-US" dirty="0">
                <a:latin typeface="LEMON MILK Medium" pitchFamily="2" charset="77"/>
              </a:rPr>
              <a:t> The technical centerpiece. It demonstrates real-time hardware interaction, collision detection, and automated enemy intelligence.</a:t>
            </a:r>
          </a:p>
          <a:p>
            <a:r>
              <a:rPr lang="en-US" b="1" dirty="0">
                <a:latin typeface="LEMON MILK Medium" pitchFamily="2" charset="77"/>
              </a:rPr>
              <a:t>Python Functions &amp; Logic:</a:t>
            </a:r>
            <a:endParaRPr lang="en-US" dirty="0">
              <a:latin typeface="LEMON MILK Medium" pitchFamily="2" charset="77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>
                <a:latin typeface="LEMON MILK Medium" pitchFamily="2" charset="77"/>
              </a:rPr>
              <a:t>curses.initscr</a:t>
            </a:r>
            <a:r>
              <a:rPr lang="en-US" dirty="0">
                <a:latin typeface="LEMON MILK Medium" pitchFamily="2" charset="77"/>
              </a:rPr>
              <a:t>(): Initializes the terminal into "window mode" to allow for coordinate-based graphics rather than scrolling text.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>
                <a:latin typeface="LEMON MILK Medium" pitchFamily="2" charset="77"/>
              </a:rPr>
              <a:t>BFS Algorithm (Breadth-First Search):</a:t>
            </a:r>
            <a:r>
              <a:rPr lang="en-US" dirty="0">
                <a:latin typeface="LEMON MILK Medium" pitchFamily="2" charset="77"/>
              </a:rPr>
              <a:t> A custom function that calculates the shortest path from the ghost to the player's coordinates through the maze.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>
                <a:latin typeface="LEMON MILK Medium" pitchFamily="2" charset="77"/>
              </a:rPr>
              <a:t>stdscr.nodelay</a:t>
            </a:r>
            <a:r>
              <a:rPr lang="en-US" dirty="0">
                <a:latin typeface="LEMON MILK Medium" pitchFamily="2" charset="77"/>
              </a:rPr>
              <a:t>(True): Sets the terminal to "non-blocking" mode, allowing the game loop (and ghosts) to keep moving even if no key is pressed.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>
                <a:latin typeface="LEMON MILK Medium" pitchFamily="2" charset="77"/>
              </a:rPr>
              <a:t>stdscr.getch</a:t>
            </a:r>
            <a:r>
              <a:rPr lang="en-US" dirty="0">
                <a:latin typeface="LEMON MILK Medium" pitchFamily="2" charset="77"/>
              </a:rPr>
              <a:t>(): Captures real-time keyboard hits (Arrow keys) to update the player's X and Y coordinates on the grid.</a:t>
            </a:r>
          </a:p>
        </p:txBody>
      </p:sp>
    </p:spTree>
    <p:extLst>
      <p:ext uri="{BB962C8B-B14F-4D97-AF65-F5344CB8AC3E}">
        <p14:creationId xmlns:p14="http://schemas.microsoft.com/office/powerpoint/2010/main" val="2542153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ED0974-5987-8EC9-A700-71FE800283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4710" y="-131927"/>
            <a:ext cx="10131425" cy="156754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4000" dirty="0">
                <a:latin typeface="LEMON MILK Medium" pitchFamily="2" charset="77"/>
              </a:rPr>
              <a:t>How to Play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64E147-D470-1389-2F36-433AAF6F769D}"/>
              </a:ext>
            </a:extLst>
          </p:cNvPr>
          <p:cNvSpPr txBox="1"/>
          <p:nvPr/>
        </p:nvSpPr>
        <p:spPr>
          <a:xfrm>
            <a:off x="1030287" y="1212456"/>
            <a:ext cx="10145485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LEMON MILK Medium" pitchFamily="2" charset="77"/>
              </a:rPr>
              <a:t>Ensure that all raspberry </a:t>
            </a:r>
            <a:r>
              <a:rPr lang="en-US" sz="2400" dirty="0" err="1">
                <a:latin typeface="LEMON MILK Medium" pitchFamily="2" charset="77"/>
              </a:rPr>
              <a:t>pis</a:t>
            </a:r>
            <a:r>
              <a:rPr lang="en-US" sz="2400" dirty="0">
                <a:latin typeface="LEMON MILK Medium" pitchFamily="2" charset="77"/>
              </a:rPr>
              <a:t> are on the same network and that python is installed on hardware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LEMON MILK Medium" pitchFamily="2" charset="77"/>
              </a:rPr>
              <a:t> Launch the game (host): open the terminal and navigate to the game folder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LEMON MILK Medium" pitchFamily="2" charset="77"/>
              </a:rPr>
              <a:t> launch the game (player): open the terminal and navigate to the game folder. When prompted type the host’s </a:t>
            </a:r>
            <a:r>
              <a:rPr lang="en-US" sz="2400" dirty="0" err="1">
                <a:latin typeface="LEMON MILK Medium" pitchFamily="2" charset="77"/>
              </a:rPr>
              <a:t>ip</a:t>
            </a:r>
            <a:r>
              <a:rPr lang="en-US" sz="2400" dirty="0">
                <a:latin typeface="LEMON MILK Medium" pitchFamily="2" charset="77"/>
              </a:rPr>
              <a:t> address to join the game.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LEMON MILK Medium" pitchFamily="2" charset="77"/>
              </a:rPr>
              <a:t> </a:t>
            </a:r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95F0092F-5033-01B6-0E1A-84652676E0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3959" y="3919808"/>
            <a:ext cx="7772400" cy="17257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B99C1B7-3F86-6417-7E94-38C1B4983679}"/>
              </a:ext>
            </a:extLst>
          </p:cNvPr>
          <p:cNvSpPr txBox="1"/>
          <p:nvPr/>
        </p:nvSpPr>
        <p:spPr>
          <a:xfrm>
            <a:off x="1187354" y="5744491"/>
            <a:ext cx="95261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LEMON MILK Medium" pitchFamily="2" charset="77"/>
              </a:rPr>
              <a:t>5. Let’s play</a:t>
            </a:r>
            <a:r>
              <a:rPr lang="en-US" sz="2400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55990281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Celestial">
      <a:dk1>
        <a:sysClr val="windowText" lastClr="000000"/>
      </a:dk1>
      <a:lt1>
        <a:sysClr val="window" lastClr="FFFFFF"/>
      </a:lt1>
      <a:dk2>
        <a:srgbClr val="16476F"/>
      </a:dk2>
      <a:lt2>
        <a:srgbClr val="EBEBEB"/>
      </a:lt2>
      <a:accent1>
        <a:srgbClr val="E5B458"/>
      </a:accent1>
      <a:accent2>
        <a:srgbClr val="F77754"/>
      </a:accent2>
      <a:accent3>
        <a:srgbClr val="D8507E"/>
      </a:accent3>
      <a:accent4>
        <a:srgbClr val="BC70EE"/>
      </a:accent4>
      <a:accent5>
        <a:srgbClr val="3CA2E2"/>
      </a:accent5>
      <a:accent6>
        <a:srgbClr val="91BF77"/>
      </a:accent6>
      <a:hlink>
        <a:srgbClr val="71DDAB"/>
      </a:hlink>
      <a:folHlink>
        <a:srgbClr val="A6E4C7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B36E0D05-787B-4C61-8268-2D6C1FBEDA32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Celestial</Template>
  <TotalTime>102</TotalTime>
  <Words>695</Words>
  <Application>Microsoft Macintosh PowerPoint</Application>
  <PresentationFormat>Widescreen</PresentationFormat>
  <Paragraphs>40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LEMON MILK Medium</vt:lpstr>
      <vt:lpstr>Celestial</vt:lpstr>
      <vt:lpstr>PowerPoint Presentation</vt:lpstr>
      <vt:lpstr>How the system operates</vt:lpstr>
      <vt:lpstr>Game 1: Heads or Tails</vt:lpstr>
      <vt:lpstr>Game 2: Rock, Paper, Scissors</vt:lpstr>
      <vt:lpstr>Game 3: Number Guessing Game</vt:lpstr>
      <vt:lpstr>GAME 4: Snake </vt:lpstr>
      <vt:lpstr>Game 5: Pacman chase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Gabrielle Panuelos</dc:creator>
  <cp:lastModifiedBy>Gabrielle Panuelos</cp:lastModifiedBy>
  <cp:revision>1</cp:revision>
  <dcterms:created xsi:type="dcterms:W3CDTF">2026-04-28T13:36:38Z</dcterms:created>
  <dcterms:modified xsi:type="dcterms:W3CDTF">2026-04-28T15:19:15Z</dcterms:modified>
</cp:coreProperties>
</file>