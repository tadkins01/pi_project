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18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r" defTabSz="457200"/>
            <a:r>
              <a:rPr lang="en-US" sz="4800" b="0" u="none" strike="noStrike" cap="all">
                <a:solidFill>
                  <a:schemeClr val="lt1"/>
                </a:solidFill>
                <a:effectLst/>
                <a:uFillTx/>
                <a:latin typeface="Calibri Light"/>
              </a:rPr>
              <a:t>Click to move the slide</a:t>
            </a:r>
            <a:endParaRPr lang="en-US" sz="48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dt" idx="5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 type="ftr" idx="5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6"/>
          <p:cNvSpPr>
            <a:spLocks noGrp="1"/>
          </p:cNvSpPr>
          <p:nvPr>
            <p:ph type="sldNum" idx="5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7B7B116-D6F7-460F-A867-2BB3DDED22A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 descr="Celestia-R1---OverlayTitle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962520" y="1964160"/>
            <a:ext cx="7197480" cy="242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r" defTabSz="457200">
              <a:lnSpc>
                <a:spcPct val="100000"/>
              </a:lnSpc>
              <a:buNone/>
              <a:defRPr lang="en-US" sz="48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48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48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893268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3962520" y="5870520"/>
            <a:ext cx="489348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1060884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3C8D08D-E535-43A0-A09B-B4DB3F2B1456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  <a:lvl2pPr lvl="1" algn="l" defTabSz="457200">
              <a:spcAft>
                <a:spcPts val="1001"/>
              </a:spcAft>
              <a:buClr>
                <a:srgbClr val="FFFFFF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2pPr>
            <a:lvl3pPr lvl="2" algn="l" defTabSz="457200">
              <a:spcAft>
                <a:spcPts val="1001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3pPr>
            <a:lvl4pPr lvl="3" algn="l" defTabSz="457200">
              <a:spcAft>
                <a:spcPts val="1001"/>
              </a:spcAft>
              <a:buClr>
                <a:srgbClr val="FFFFFF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4pPr>
            <a:lvl5pPr lvl="4" algn="l" defTabSz="457200">
              <a:spcAft>
                <a:spcPts val="1001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7pPr>
          </a:lstStyle>
          <a:p>
            <a:pPr marL="285840" indent="-285840" algn="l" defTabSz="457200"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Aft>
                <a:spcPts val="1001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Second Outline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Aft>
                <a:spcPts val="1001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Third Outline Level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Aft>
                <a:spcPts val="1001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Fourth Outline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Aft>
                <a:spcPts val="1001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Fifth Outline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anoramic Picture with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5800" y="4732920"/>
            <a:ext cx="1013112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en-US" sz="24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4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24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1371600" y="932040"/>
            <a:ext cx="8759520" cy="3164760"/>
          </a:xfrm>
          <a:prstGeom prst="rect">
            <a:avLst/>
          </a:prstGeom>
          <a:noFill/>
          <a:ln cap="sq" w="50760">
            <a:solidFill>
              <a:srgbClr val="FFFFFF"/>
            </a:solidFill>
            <a:miter/>
          </a:ln>
          <a:effectLst>
            <a:outerShdw dist="0" dir="0" blurRad="254160" rotWithShape="0">
              <a:srgbClr val="000000">
                <a:alpha val="43000"/>
              </a:srgbClr>
            </a:outerShdw>
          </a:effectLst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icon to add picture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85800" y="5299560"/>
            <a:ext cx="10131120" cy="493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821427-9C1F-4DF2-B16C-0B64D5FB51FB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6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10131120" cy="31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101311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7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8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9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854B486-9FFD-41E1-ACC0-4CAA38DAEB5B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with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10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11"/>
          <p:cNvSpPr/>
          <p:nvPr/>
        </p:nvSpPr>
        <p:spPr>
          <a:xfrm>
            <a:off x="10238040" y="274320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”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Box 12"/>
          <p:cNvSpPr/>
          <p:nvPr/>
        </p:nvSpPr>
        <p:spPr>
          <a:xfrm>
            <a:off x="488160" y="82332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“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992160" y="609480"/>
            <a:ext cx="9550080" cy="274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1098000" y="3352680"/>
            <a:ext cx="93387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687600" y="4343400"/>
            <a:ext cx="1015200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0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1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2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3F6CBF-3E8B-4951-913A-69FCBBBC1231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ame Card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6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5800" y="3308760"/>
            <a:ext cx="1013112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85800" y="4777560"/>
            <a:ext cx="10131120" cy="86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3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14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15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90D8313-6B74-458E-B263-858193D83302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Name Card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10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Box 12"/>
          <p:cNvSpPr/>
          <p:nvPr/>
        </p:nvSpPr>
        <p:spPr>
          <a:xfrm>
            <a:off x="10238040" y="274320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”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Box 13"/>
          <p:cNvSpPr/>
          <p:nvPr/>
        </p:nvSpPr>
        <p:spPr>
          <a:xfrm>
            <a:off x="488160" y="82332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“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992160" y="609480"/>
            <a:ext cx="9550080" cy="274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685800" y="3886200"/>
            <a:ext cx="10135080" cy="88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-28584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685800" y="4775040"/>
            <a:ext cx="10135080" cy="101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16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17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18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90FBD3-1CF9-4A3E-899D-DA826EBB6F2C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rue or Fals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7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10131120" cy="274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85800" y="3505320"/>
            <a:ext cx="10131120" cy="83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-28584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101311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19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0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21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6FC3FB4-A158-4F8A-A673-445F23094ABD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6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10131120" cy="145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685800" y="2142000"/>
            <a:ext cx="10131120" cy="364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22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ftr" idx="23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sldNum" idx="24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243B9B1-2345-4DA0-BE96-6B920D777DE3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Picture 6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658720" y="609480"/>
            <a:ext cx="2158200" cy="518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609480"/>
            <a:ext cx="7831800" cy="518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dt" idx="25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ftr" idx="26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sldNum" idx="27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39E8A3B-9895-41E9-9E2E-900504B8CDBA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6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10131120" cy="145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2142000"/>
            <a:ext cx="10131120" cy="364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dt" idx="28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ftr" idx="29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sldNum" idx="30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675FA5-1FAA-472C-9F61-F68A97413C6D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6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85800" y="3308760"/>
            <a:ext cx="1013112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40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685800" y="4777560"/>
            <a:ext cx="10131120" cy="86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000" b="0" u="none" strike="noStrike" cap="all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2000" b="0" u="none" strike="noStrike" cap="all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2000" b="0" u="none" strike="noStrike" cap="all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dt" idx="31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ftr" idx="32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sldNum" idx="33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50C86E9-58A0-4A08-9E8A-F2786154D881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10131120" cy="145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85800" y="2142000"/>
            <a:ext cx="4995000" cy="364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5821920" y="2142000"/>
            <a:ext cx="4995000" cy="364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dt" idx="34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ftr" idx="35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 type="sldNum" idx="36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1D950B0-ED76-4530-89A2-B46134115758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10131120" cy="145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973800" y="2218320"/>
            <a:ext cx="470880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685800" y="2870280"/>
            <a:ext cx="4996440" cy="292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body"/>
          </p:nvPr>
        </p:nvSpPr>
        <p:spPr>
          <a:xfrm>
            <a:off x="6095880" y="2226600"/>
            <a:ext cx="472248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body"/>
          </p:nvPr>
        </p:nvSpPr>
        <p:spPr>
          <a:xfrm>
            <a:off x="5823360" y="2870280"/>
            <a:ext cx="4995000" cy="292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 type="dt" idx="37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 type="ftr" idx="38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8"/>
          <p:cNvSpPr>
            <a:spLocks noGrp="1"/>
          </p:cNvSpPr>
          <p:nvPr>
            <p:ph type="sldNum" idx="39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AC04A54-789C-49E4-B9CF-06560A3E994F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5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85800" y="609480"/>
            <a:ext cx="10131120" cy="145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36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36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dt" idx="40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ftr" idx="41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sldNum" idx="42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CD5648-C278-4172-89D0-877CDF6F6182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4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dt" idx="43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44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sldNum" idx="45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CC8785C-B4C9-496F-BDAB-168649A49EF0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7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85800" y="2074320"/>
            <a:ext cx="3680640" cy="137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en-US" sz="24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4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24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4648320" y="609480"/>
            <a:ext cx="6168600" cy="518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  <a:lvl2pPr lvl="1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2pPr>
            <a:lvl3pPr lvl="2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3pPr>
            <a:lvl4pPr lvl="3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4pPr>
            <a:lvl5pPr lvl="4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  <a:def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5pPr>
          </a:lstStyle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Second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200240" lvl="2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Third level</a:t>
            </a:r>
            <a:endParaRPr lang="en-US" sz="1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542960" lvl="3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Fourth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00160" lvl="4" indent="-17136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Fifth level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685800" y="3445920"/>
            <a:ext cx="3680640" cy="182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dt" idx="46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5"/>
          <p:cNvSpPr>
            <a:spLocks noGrp="1"/>
          </p:cNvSpPr>
          <p:nvPr>
            <p:ph type="ftr" idx="47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6"/>
          <p:cNvSpPr>
            <a:spLocks noGrp="1"/>
          </p:cNvSpPr>
          <p:nvPr>
            <p:ph type="sldNum" idx="48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CCD18CC-B54B-4382-BE3D-01F0D1A33CA1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7" descr="Celestia-R1---OverlayContentHD.png"/>
          <p:cNvPicPr/>
          <p:nvPr/>
        </p:nvPicPr>
        <p:blipFill>
          <a:blip r:embed="rId3"/>
          <a:stretch/>
        </p:blipFill>
        <p:spPr>
          <a:xfrm>
            <a:off x="0" y="0"/>
            <a:ext cx="12188520" cy="68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280" cy="137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en-US" sz="28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800" b="0" u="none" strike="noStrike" cap="all">
                <a:solidFill>
                  <a:schemeClr val="lt1"/>
                </a:solidFill>
                <a:effectLst/>
                <a:uFillTx/>
                <a:latin typeface="Calibri Light"/>
                <a:ea typeface="Arial"/>
              </a:rPr>
              <a:t>Click to edit Master title style</a:t>
            </a:r>
            <a:endParaRPr lang="en-US" sz="28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7536240" y="914400"/>
            <a:ext cx="3280680" cy="4571640"/>
          </a:xfrm>
          <a:prstGeom prst="rect">
            <a:avLst/>
          </a:prstGeom>
          <a:noFill/>
          <a:ln cap="sq" w="50760">
            <a:solidFill>
              <a:srgbClr val="FFFFFF"/>
            </a:solidFill>
            <a:miter/>
          </a:ln>
          <a:effectLst>
            <a:outerShdw dist="0" dir="0" blurRad="254160" rotWithShape="0">
              <a:srgbClr val="000000">
                <a:alpha val="43000"/>
              </a:srgbClr>
            </a:outerShdw>
          </a:effectLst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icon to add picture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body"/>
          </p:nvPr>
        </p:nvSpPr>
        <p:spPr>
          <a:xfrm>
            <a:off x="685800" y="2971800"/>
            <a:ext cx="6164280" cy="182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dt" idx="49"/>
          </p:nvPr>
        </p:nvSpPr>
        <p:spPr>
          <a:xfrm>
            <a:off x="8589600" y="5870520"/>
            <a:ext cx="159984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 type="ftr" idx="50"/>
          </p:nvPr>
        </p:nvSpPr>
        <p:spPr>
          <a:xfrm>
            <a:off x="685800" y="5870520"/>
            <a:ext cx="782712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6"/>
          <p:cNvSpPr>
            <a:spLocks noGrp="1"/>
          </p:cNvSpPr>
          <p:nvPr>
            <p:ph type="sldNum" idx="51"/>
          </p:nvPr>
        </p:nvSpPr>
        <p:spPr>
          <a:xfrm>
            <a:off x="10266120" y="5870520"/>
            <a:ext cx="550800" cy="37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5F6926-40AE-4A05-80EB-A0A4BC8DB290}" type="slidenum"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ubTitle"/>
          </p:nvPr>
        </p:nvSpPr>
        <p:spPr>
          <a:xfrm>
            <a:off x="1287000" y="5255280"/>
            <a:ext cx="10904760" cy="50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indent="0" algn="r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2800" b="1" u="none" strike="noStrike" cap="all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Gabrielle , Micah , Thomas, and Izaiah </a:t>
            </a:r>
            <a:endParaRPr lang="en-US" sz="2800" b="0" u="none" strike="noStrike" cap="all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Picture 7" descr="A blue text on a black background&#10;&#10;Description automatically generated"/>
          <p:cNvSpPr/>
          <p:nvPr/>
        </p:nvSpPr>
        <p:spPr>
          <a:xfrm>
            <a:off x="109440" y="1417320"/>
            <a:ext cx="11972880" cy="3621600"/>
          </a:xfrm>
          <a:prstGeom prst="roundRect">
            <a:avLst>
              <a:gd name="adj" fmla="val 4380"/>
            </a:avLst>
          </a:prstGeom>
          <a:blipFill rotWithShape="0">
            <a:blip r:embed="rId2"/>
            <a:srcRect/>
            <a:stretch/>
          </a:blipFill>
          <a:ln cap="sq" w="50800">
            <a:solidFill>
              <a:srgbClr val="FFFFFF"/>
            </a:solidFill>
            <a:miter/>
          </a:ln>
          <a:effectLst>
            <a:outerShdw algn="tl" blurRad="254160" rotWithShape="0">
              <a:srgbClr val="000000">
                <a:alpha val="4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975240" y="0"/>
            <a:ext cx="10006200" cy="137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5400" b="1" u="none" strike="noStrike" cap="all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How the system operates</a:t>
            </a:r>
            <a:endParaRPr lang="en-US" sz="54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650520" y="1204920"/>
            <a:ext cx="10709640" cy="536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Client-Server Architecture: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One Raspberry Pi acts as the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Host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(the brain), while all other Pis connect as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Clients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(the controllers).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Star Topology: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Every player communicates directly with the Host, ensuring all participants see the exact same game state at the same time.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TCP/IP Networking: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Uses "Transmission Control Protocol" to ensure game data (like moves and scores) arrives reliably and in the correct order across the local network.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Terminal Rendering: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Instead of heavy graphics, the system uses the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Curses library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to "draw" game boards and animations using text characters and colors.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Non-Blocking Input: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The system is programmed to keep the game moving (like ghosts chasing you) even if a player isn't pressing any buttons.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Automated Logic: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The Host runs pathfinding algorithms (BFS) for enemies, ensuring the game provides a consistent challenge for all connected players.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917640" y="0"/>
            <a:ext cx="10131120" cy="145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5400" b="1" u="none" strike="noStrike" cap="all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Game 1: Heads or Tails</a:t>
            </a:r>
            <a:endParaRPr lang="en-US" sz="54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293400" y="1227600"/>
            <a:ext cx="6325560" cy="53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A quick-fire test of the network's ability to handle rapid-response binary choices and synchronized resolution.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random.choice(['Heads', 'Tails']): Used by the server to determine the winning outcome.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input().strip().upper(): Captures the player's choice and cleans the data before sending.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send_data() / recv_data(): Custom wrapper functions for socket.send() and socket.recv() to exchange JSON packets between the Pi and the Host.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6" name="Picture 4" descr="A screenshot of a computer screen&#10;&#10;Description automatically generated"/>
          <p:cNvPicPr/>
          <p:nvPr/>
        </p:nvPicPr>
        <p:blipFill>
          <a:blip r:embed="rId1"/>
          <a:stretch/>
        </p:blipFill>
        <p:spPr>
          <a:xfrm>
            <a:off x="6619320" y="2038320"/>
            <a:ext cx="5279040" cy="341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25640" y="-214200"/>
            <a:ext cx="11772360" cy="145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5400" b="1" u="none" strike="noStrike" cap="all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Game 2: Rock, Paper, Scissors</a:t>
            </a:r>
            <a:endParaRPr lang="en-US" sz="54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128880" y="1145160"/>
            <a:ext cx="6666840" cy="5322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Demonstrates server-side logic validation where the Host must compare multiple client inputs against a central "AI" move.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Logic Mapping: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Uses a Dictionary or Nested if/elif statements to define win/loss/tie conditions (e.g., if user == 'R' and computer == 'S').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time.sleep(): Orchestrates the "Rock... Paper... Scissors... Shoot!" countdown across all connected terminals.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json.dumps(): Converts the player's move into a string format that can be transmitted over the TCP socket.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9" name="Picture 6" descr="A screen shot of a computer screen&#10;&#10;Description automatically generated"/>
          <p:cNvPicPr/>
          <p:nvPr/>
        </p:nvPicPr>
        <p:blipFill>
          <a:blip r:embed="rId1"/>
          <a:stretch/>
        </p:blipFill>
        <p:spPr>
          <a:xfrm>
            <a:off x="6603840" y="2338920"/>
            <a:ext cx="5484600" cy="2705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-158400" y="-193320"/>
            <a:ext cx="12349800" cy="13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5400" b="1" u="none" strike="noStrike" cap="all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Game 3: Number Guessing Game</a:t>
            </a:r>
            <a:endParaRPr lang="en-US" sz="54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178920" y="1160640"/>
            <a:ext cx="5837400" cy="549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Showcases mathematical processing and "Shortest Distance" algorithms to determine a winner among multiple participants.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random.randint(1, 100): Generates the secret target number on the Host machine.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abs(target - guess): The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Absolute Value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function calculates how far each player is from the target, regardless of whether they guessed too high or too low.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min(): Applied to a list of player distances to identify the "closest" guess and declare the round winner.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2" name="Picture 4" descr="A purple and blue text&#10;&#10;Description automatically generated"/>
          <p:cNvPicPr/>
          <p:nvPr/>
        </p:nvPicPr>
        <p:blipFill>
          <a:blip r:embed="rId1"/>
          <a:srcRect l="0" t="8172" r="0" b="5618"/>
          <a:stretch/>
        </p:blipFill>
        <p:spPr>
          <a:xfrm>
            <a:off x="5759640" y="2917440"/>
            <a:ext cx="6338520" cy="1044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685800" y="-164160"/>
            <a:ext cx="10131120" cy="145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5400" b="1" u="none" strike="noStrike" cap="all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GAME 4: Snake </a:t>
            </a:r>
            <a:endParaRPr lang="en-US" sz="54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114480" y="1103400"/>
            <a:ext cx="6921000" cy="575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Purpose: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Demonstrates real-time coordination tracking and collision detection within a terminal environment. 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Python Functions &amp; Logic: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curses.wrapper()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: Switches the terminal into a "game window" that allows for colored graphics and exact positioning of characters. 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Coordinate Management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: Stores the snake's body as a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list of (x, y) points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to track every segment on the 28 X 14 grid. 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_is_wall()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: A boundary check that ends the game instantly if the snake's head hits the edge of the grid. 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_spawn_apple()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: scans for empty spaces to ensure new apples don't appear inside walls or the snake's body. 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stdscr.timeout()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: Sets the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game speed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(0.12s), which determines how fast the snake moves and how often the screen refreshes. 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indent="0" algn="l" defTabSz="457200">
              <a:lnSpc>
                <a:spcPct val="100000"/>
              </a:lnSpc>
              <a:spcAft>
                <a:spcPts val="1001"/>
              </a:spcAft>
              <a:buNone/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5" name="Picture 4" descr="A computer screen shot of a white rectangle&#10;&#10;Description automatically generated"/>
          <p:cNvPicPr/>
          <p:nvPr/>
        </p:nvPicPr>
        <p:blipFill>
          <a:blip r:embed="rId1"/>
          <a:stretch/>
        </p:blipFill>
        <p:spPr>
          <a:xfrm>
            <a:off x="6896160" y="2836440"/>
            <a:ext cx="5283000" cy="207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720360" y="-168480"/>
            <a:ext cx="10131120" cy="145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5400" b="1" u="none" strike="noStrike" cap="all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Game 5: Pacman chase</a:t>
            </a:r>
            <a:endParaRPr lang="en-US" sz="5400" b="0" u="none" strike="noStrike" cap="all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178560" y="1208520"/>
            <a:ext cx="6611760" cy="520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Purpose:</a:t>
            </a: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The technical centerpiece. It demonstrates real-time hardware interaction, collision detection, and automated enemy intelligence.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Python Functions &amp; Logic: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curses.initscr(): Initializes the terminal into "window mode" to allow for coordinate-based graphics rather than scrolling text.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BFS Algorithm (Breadth-First Search):</a:t>
            </a: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A custom function that calculates the shortest path from the ghost to the player's coordinates through the maze.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stdscr.nodelay(True): Sets the terminal to "non-blocking" mode, allowing the game loop (and ghosts) to keep moving even if no key is pressed.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85840" indent="-285840" algn="l" defTabSz="457200">
              <a:lnSpc>
                <a:spcPct val="100000"/>
              </a:lnSpc>
              <a:spcAft>
                <a:spcPts val="1001"/>
              </a:spcAft>
              <a:buClr>
                <a:srgbClr val="FFFFFF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stdscr.getch(): Captures real-time keyboard hits (Arrow keys) to update the player's X and Y coordinates on the grid.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8" name="Picture 4" descr="A screenshot of a video game&#10;&#10;Description automatically generated"/>
          <p:cNvPicPr/>
          <p:nvPr/>
        </p:nvPicPr>
        <p:blipFill>
          <a:blip r:embed="rId1"/>
          <a:stretch/>
        </p:blipFill>
        <p:spPr>
          <a:xfrm>
            <a:off x="6946920" y="1287720"/>
            <a:ext cx="4774680" cy="466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/>
          </p:nvPr>
        </p:nvSpPr>
        <p:spPr>
          <a:xfrm>
            <a:off x="884880" y="-131760"/>
            <a:ext cx="10131120" cy="1567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ctr" defTabSz="457200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en-US" sz="5400" b="1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How to Play</a:t>
            </a:r>
            <a:endParaRPr lang="en-US" sz="5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3"/>
          <p:cNvSpPr/>
          <p:nvPr/>
        </p:nvSpPr>
        <p:spPr>
          <a:xfrm>
            <a:off x="1030320" y="1212480"/>
            <a:ext cx="10145160" cy="23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Ensure that all raspberry pis are on the same network and that python is installed on hardware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Launch the game (host): open the terminal and navigate to the game folder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launch the game (player): open the terminal and navigate to the game folder. When prompted type the host’s IP address to join the game.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Calibri Light"/>
              <a:buAutoNum type="arabicPeriod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 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1" name="Picture 5" descr="A screenshot of a computer&#10;&#10;Description automatically generated"/>
          <p:cNvPicPr/>
          <p:nvPr/>
        </p:nvPicPr>
        <p:blipFill>
          <a:blip r:embed="rId1"/>
          <a:stretch/>
        </p:blipFill>
        <p:spPr>
          <a:xfrm>
            <a:off x="1465200" y="3207600"/>
            <a:ext cx="7772040" cy="172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TextBox 6"/>
          <p:cNvSpPr/>
          <p:nvPr/>
        </p:nvSpPr>
        <p:spPr>
          <a:xfrm>
            <a:off x="968760" y="4933440"/>
            <a:ext cx="9525600" cy="46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  <a:ea typeface="Arial"/>
              </a:rPr>
              <a:t>5. Let’s play!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3" name="Picture 5" descr="A screenshot of a computer&#10;&#10;Description automatically generated"/>
          <p:cNvPicPr/>
          <p:nvPr/>
        </p:nvPicPr>
        <p:blipFill>
          <a:blip r:embed="rId2"/>
          <a:srcRect l="74546" t="81290" r="1752" b="3996"/>
          <a:stretch/>
        </p:blipFill>
        <p:spPr>
          <a:xfrm>
            <a:off x="5731920" y="4260600"/>
            <a:ext cx="251460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"/>
          <p:cNvSpPr txBox="1"/>
          <p:nvPr/>
        </p:nvSpPr>
        <p:spPr>
          <a:xfrm>
            <a:off x="5679000" y="4275000"/>
            <a:ext cx="1407600" cy="374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9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Use </a:t>
            </a: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WASD</a:t>
            </a:r>
            <a:r>
              <a:rPr lang="en-US" sz="9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to move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_rels/theme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theme1.xml><?xml version="1.0" encoding="utf-8"?>
<a:theme xmlns:a="http://schemas.openxmlformats.org/drawingml/2006/main" xmlns:r="http://schemas.openxmlformats.org/officeDocument/2006/relationships" name="Celestial">
  <a:themeElements>
    <a:clrScheme name="Celestial">
      <a:dk1>
        <a:srgbClr val="000000"/>
      </a:dk1>
      <a:lt1>
        <a:srgbClr val="FFFFFF"/>
      </a:lt1>
      <a:dk2>
        <a:srgbClr val="16476F"/>
      </a:dk2>
      <a:lt2>
        <a:srgbClr val="EBEBEB"/>
      </a:lt2>
      <a:accent1>
        <a:srgbClr val="E5B458"/>
      </a:accent1>
      <a:accent2>
        <a:srgbClr val="F77754"/>
      </a:accent2>
      <a:accent3>
        <a:srgbClr val="D8507E"/>
      </a:accent3>
      <a:accent4>
        <a:srgbClr val="BC70EE"/>
      </a:accent4>
      <a:accent5>
        <a:srgbClr val="3CA2E2"/>
      </a:accent5>
      <a:accent6>
        <a:srgbClr val="91BF77"/>
      </a:accent6>
      <a:hlink>
        <a:srgbClr val="71DDAB"/>
      </a:hlink>
      <a:folHlink>
        <a:srgbClr val="A6E4C7"/>
      </a:folHlink>
    </a:clrScheme>
    <a:fontScheme name="Celestial">
      <a:majorFont>
        <a:latin typeface="Calibri Light" pitchFamily="0" charset="1"/>
        <a:ea typeface="Arial" pitchFamily="0" charset="1"/>
        <a:cs typeface="Arial" pitchFamily="0" charset="1"/>
      </a:majorFont>
      <a:minorFont>
        <a:latin typeface="Calibri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shade val="96000"/>
                <a:lumMod val="110000"/>
              </a:schemeClr>
            </a:gs>
            <a:gs pos="100000">
              <a:schemeClr val="phClr">
                <a:shade val="96000"/>
                <a:lumMod val="100000"/>
              </a:schemeClr>
            </a:gs>
          </a:gsLst>
          <a:lin ang="4740000" scaled="1"/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4</TotalTime>
  <Application>LibreOffice/26.2.3.2$Linux_X86_64 LibreOffice_project/a31940f583db492bb69b3a601caf6d1b0ecf61f1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2026-04-28T13:36:38Z</dcterms:created>
  <dc:creator>Gabrielle Panuelos</dc:creator>
  <dc:description/>
  <dc:language>en-US</dc:language>
  <cp:lastModifiedBy/>
  <dcterms:modified xsi:type="dcterms:W3CDTF">2026-05-06T15:41:43Z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8</vt:i4>
  </property>
  <property fmtid="{D5CDD505-2E9C-101B-9397-08002B2CF9AE}" pid="4" name="PresentationFormat">
    <vt:lpwstr>On-screen Show (4:3)</vt:lpwstr>
  </property>
  <property fmtid="{D5CDD505-2E9C-101B-9397-08002B2CF9AE}" pid="5" name="Slides">
    <vt:i4>8</vt:i4>
  </property>
</Properties>
</file>