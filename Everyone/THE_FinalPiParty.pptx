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1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45" d="100"/>
          <a:sy n="145" d="100"/>
        </p:scale>
        <p:origin x="840" y="184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621D93-8B2A-06FB-8191-4588D546C81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C0BE719-6351-A182-3EB4-8C13B247383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2B0B9A-8254-523B-85AB-2383C90587B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14DC327-776F-E31E-8572-EC1385A992B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E632BA-53AC-C4B0-00FD-8D1AF4A25E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455AE6-E056-EBBA-7FCB-8845209855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F5D3ED-703A-BD11-ACDB-4139472F505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727687D-DF9D-1A9B-5618-5A4A3109E62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8727509" name="Picture 6" descr="Celestia-R1---OverlayTitleH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42830913" name="Title 1"/>
          <p:cNvSpPr>
            <a:spLocks noGrp="1"/>
          </p:cNvSpPr>
          <p:nvPr>
            <p:ph type="ctrTitle"/>
          </p:nvPr>
        </p:nvSpPr>
        <p:spPr bwMode="auto"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96239816" name="Subtitle 2"/>
          <p:cNvSpPr>
            <a:spLocks noGrp="1"/>
          </p:cNvSpPr>
          <p:nvPr>
            <p:ph type="subTitle" idx="1"/>
          </p:nvPr>
        </p:nvSpPr>
        <p:spPr bwMode="auto"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2116065785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8932558" y="5870575"/>
            <a:ext cx="1600200" cy="377825"/>
          </a:xfrm>
        </p:spPr>
        <p:txBody>
          <a:bodyPr/>
          <a:lstStyle/>
          <a:p>
            <a:pPr>
              <a:defRPr/>
            </a:pPr>
            <a:fld id="{11A6662E-FAF4-44BC-88B5-85A7CBFB6D30}" type="datetime1">
              <a:rPr lang="en-US"/>
              <a:t>5/5/26</a:t>
            </a:fld>
            <a:endParaRPr lang="en-US"/>
          </a:p>
        </p:txBody>
      </p:sp>
      <p:sp>
        <p:nvSpPr>
          <p:cNvPr id="187731865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3962399" y="5870575"/>
            <a:ext cx="4893958" cy="377825"/>
          </a:xfrm>
        </p:spPr>
        <p:txBody>
          <a:bodyPr/>
          <a:lstStyle/>
          <a:p>
            <a:pPr>
              <a:defRPr/>
            </a:pPr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350594443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608958" y="5870575"/>
            <a:ext cx="551167" cy="377825"/>
          </a:xfrm>
        </p:spPr>
        <p:txBody>
          <a:bodyPr/>
          <a:lstStyle/>
          <a:p>
            <a:pPr>
              <a:defRPr/>
            </a:pPr>
            <a:fld id="{73B850FF-6169-4056-8077-06FFA93A5366}" type="slidenum">
              <a:rPr lang="en-US"/>
              <a:t>‹#›</a:t>
            </a:fld>
            <a:endParaRPr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3830723" name="Picture 6" descr="Celestia-R1---OverlayContentH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6212814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82447109" name="Content Placeholder 2"/>
          <p:cNvSpPr>
            <a:spLocks noGrp="1"/>
          </p:cNvSpPr>
          <p:nvPr>
            <p:ph idx="1"/>
          </p:nvPr>
        </p:nvSpPr>
        <p:spPr bwMode="auto"/>
        <p:txBody>
          <a:bodyPr anchor="ctr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9417888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055F08A-1E71-4B2B-BB49-E743F2903911}" type="datetime1">
              <a:rPr lang="en-US"/>
              <a:t>5/5/26</a:t>
            </a:fld>
            <a:endParaRPr lang="en-US"/>
          </a:p>
        </p:txBody>
      </p:sp>
      <p:sp>
        <p:nvSpPr>
          <p:cNvPr id="10980970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440004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B850FF-6169-4056-8077-06FFA93A536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11267400" name="Picture 6" descr="Celestia-R1---OverlayContentH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019566676" name="Title 1"/>
          <p:cNvSpPr>
            <a:spLocks noGrp="1"/>
          </p:cNvSpPr>
          <p:nvPr>
            <p:ph type="title"/>
          </p:nvPr>
        </p:nvSpPr>
        <p:spPr bwMode="auto"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8352097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4912635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5417D9E-721A-44BB-8863-9873FE64DA75}" type="datetime1">
              <a:rPr lang="en-US"/>
              <a:t>5/5/26</a:t>
            </a:fld>
            <a:endParaRPr lang="en-US"/>
          </a:p>
        </p:txBody>
      </p:sp>
      <p:sp>
        <p:nvSpPr>
          <p:cNvPr id="165792246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609748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B850FF-6169-4056-8077-06FFA93A536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36124887" name="Picture 7" descr="Celestia-R1---OverlayContentH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820490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5408694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309448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21895" y="2142067"/>
            <a:ext cx="4995332" cy="3649132"/>
          </a:xfrm>
        </p:spPr>
        <p:txBody>
          <a:bodyPr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1446508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F31DA2F-80B8-49CF-99FB-5ABCA53A607A}" type="datetime1">
              <a:rPr lang="en-US"/>
              <a:t>5/5/26</a:t>
            </a:fld>
            <a:endParaRPr lang="en-US"/>
          </a:p>
        </p:txBody>
      </p:sp>
      <p:sp>
        <p:nvSpPr>
          <p:cNvPr id="158264492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2110530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B850FF-6169-4056-8077-06FFA93A536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8237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9133270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1347348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5816111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096003" y="2226734"/>
            <a:ext cx="4722812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82135901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42733739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8852172-E6C9-4B6C-929A-A9DE3837BBF1}" type="datetime1">
              <a:rPr lang="en-US"/>
              <a:t>5/5/26</a:t>
            </a:fld>
            <a:endParaRPr lang="en-US"/>
          </a:p>
        </p:txBody>
      </p:sp>
      <p:sp>
        <p:nvSpPr>
          <p:cNvPr id="145010508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6975805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B850FF-6169-4056-8077-06FFA93A536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55877639" name="Picture 5" descr="Celestia-R1---OverlayContentH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28326155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8045600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AB41CFF-90C9-47B3-9DA1-F2BF8D839F7E}" type="datetime1">
              <a:rPr lang="en-US"/>
              <a:t>5/5/26</a:t>
            </a:fld>
            <a:endParaRPr lang="en-US"/>
          </a:p>
        </p:txBody>
      </p:sp>
      <p:sp>
        <p:nvSpPr>
          <p:cNvPr id="135959994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1316374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B850FF-6169-4056-8077-06FFA93A536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38604140" name="Picture 4" descr="Celestia-R1---OverlayContentH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81281850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F06048FA-06AB-4884-A69B-986B96E68A24}" type="datetime1">
              <a:rPr lang="en-US"/>
              <a:t>5/5/26</a:t>
            </a:fld>
            <a:endParaRPr lang="en-US"/>
          </a:p>
        </p:txBody>
      </p:sp>
      <p:sp>
        <p:nvSpPr>
          <p:cNvPr id="1883741545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1301920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B850FF-6169-4056-8077-06FFA93A536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40732961" name="Picture 7" descr="Celestia-R1---OverlayContentH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420349992" name="Title 1"/>
          <p:cNvSpPr>
            <a:spLocks noGrp="1"/>
          </p:cNvSpPr>
          <p:nvPr>
            <p:ph type="title"/>
          </p:nvPr>
        </p:nvSpPr>
        <p:spPr bwMode="auto"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17362014" name="Content Placeholder 2"/>
          <p:cNvSpPr>
            <a:spLocks noGrp="1"/>
          </p:cNvSpPr>
          <p:nvPr>
            <p:ph idx="1"/>
          </p:nvPr>
        </p:nvSpPr>
        <p:spPr bwMode="auto"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585340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0073223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0DB7ABA-0172-4F9C-889D-567164F66BCD}" type="datetime1">
              <a:rPr lang="en-US"/>
              <a:t>5/5/26</a:t>
            </a:fld>
            <a:endParaRPr lang="en-US"/>
          </a:p>
        </p:txBody>
      </p:sp>
      <p:sp>
        <p:nvSpPr>
          <p:cNvPr id="145692587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1586783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B850FF-6169-4056-8077-06FFA93A536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2199772" name="Picture 7" descr="Celestia-R1---OverlayContentH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54576445" name="Title 1"/>
          <p:cNvSpPr>
            <a:spLocks noGrp="1"/>
          </p:cNvSpPr>
          <p:nvPr>
            <p:ph type="title"/>
          </p:nvPr>
        </p:nvSpPr>
        <p:spPr bwMode="auto"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72927654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21744630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0024856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8AC6A5B-8AE7-4A41-B5A7-9ADC6686DC18}" type="datetime1">
              <a:rPr lang="en-US"/>
              <a:t>5/5/26</a:t>
            </a:fld>
            <a:endParaRPr lang="en-US"/>
          </a:p>
        </p:txBody>
      </p:sp>
      <p:sp>
        <p:nvSpPr>
          <p:cNvPr id="212180905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450395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B850FF-6169-4056-8077-06FFA93A536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Panoramic 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1521166" name="Picture 7" descr="Celestia-R1---OverlayContentH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000219207" name="Title 1"/>
          <p:cNvSpPr>
            <a:spLocks noGrp="1"/>
          </p:cNvSpPr>
          <p:nvPr>
            <p:ph type="title"/>
          </p:nvPr>
        </p:nvSpPr>
        <p:spPr bwMode="auto"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95528767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6490945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5800" y="5299602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0798343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7E0CF6C-748E-4B7A-BC8B-3011EF78ED13}" type="datetime1">
              <a:rPr lang="en-US"/>
              <a:t>5/5/26</a:t>
            </a:fld>
            <a:endParaRPr lang="en-US"/>
          </a:p>
        </p:txBody>
      </p:sp>
      <p:sp>
        <p:nvSpPr>
          <p:cNvPr id="102994270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113559802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B850FF-6169-4056-8077-06FFA93A536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hf dt="0" ftr="0" hdr="0" sldNum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itle and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3482983" name="Picture 6" descr="Celestia-R1---OverlayContentH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018072823" name="Title 1"/>
          <p:cNvSpPr>
            <a:spLocks noGrp="1"/>
          </p:cNvSpPr>
          <p:nvPr>
            <p:ph type="title"/>
          </p:nvPr>
        </p:nvSpPr>
        <p:spPr bwMode="auto"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882477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6181803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7E0CF6C-748E-4B7A-BC8B-3011EF78ED13}" type="datetime1">
              <a:rPr lang="en-US"/>
              <a:t>5/5/26</a:t>
            </a:fld>
            <a:endParaRPr lang="en-US"/>
          </a:p>
        </p:txBody>
      </p:sp>
      <p:sp>
        <p:nvSpPr>
          <p:cNvPr id="2128833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76739886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B850FF-6169-4056-8077-06FFA93A536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hf dt="0" ftr="0" hdr="0" sldNum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Quot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99257857" name="Picture 10" descr="Celestia-R1---OverlayContentH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678368431" name="TextBox 11"/>
          <p:cNvSpPr txBox="1"/>
          <p:nvPr/>
        </p:nvSpPr>
        <p:spPr bwMode="auto">
          <a:xfrm>
            <a:off x="10237867" y="2743200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8000">
                <a:solidFill>
                  <a:schemeClr val="tx1"/>
                </a:solidFill>
              </a:rPr>
              <a:t>”</a:t>
            </a:r>
            <a:endParaRPr/>
          </a:p>
        </p:txBody>
      </p:sp>
      <p:sp>
        <p:nvSpPr>
          <p:cNvPr id="1693134655" name="TextBox 12"/>
          <p:cNvSpPr txBox="1"/>
          <p:nvPr/>
        </p:nvSpPr>
        <p:spPr bwMode="auto">
          <a:xfrm>
            <a:off x="488275" y="823337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8000">
                <a:solidFill>
                  <a:schemeClr val="tx1"/>
                </a:solidFill>
              </a:rPr>
              <a:t>“</a:t>
            </a:r>
            <a:endParaRPr/>
          </a:p>
        </p:txBody>
      </p:sp>
      <p:sp>
        <p:nvSpPr>
          <p:cNvPr id="950450450" name="Title 1"/>
          <p:cNvSpPr>
            <a:spLocks noGrp="1"/>
          </p:cNvSpPr>
          <p:nvPr>
            <p:ph type="title"/>
          </p:nvPr>
        </p:nvSpPr>
        <p:spPr bwMode="auto"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74223871" name="Text Placeholder 9"/>
          <p:cNvSpPr>
            <a:spLocks noGrp="1"/>
          </p:cNvSpPr>
          <p:nvPr>
            <p:ph type="body" sz="quarter" idx="13"/>
          </p:nvPr>
        </p:nvSpPr>
        <p:spPr bwMode="auto"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0245120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9912506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7E0CF6C-748E-4B7A-BC8B-3011EF78ED13}" type="datetime1">
              <a:rPr lang="en-US"/>
              <a:t>5/5/26</a:t>
            </a:fld>
            <a:endParaRPr lang="en-US"/>
          </a:p>
        </p:txBody>
      </p:sp>
      <p:sp>
        <p:nvSpPr>
          <p:cNvPr id="104617447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21096886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B850FF-6169-4056-8077-06FFA93A536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hf dt="0" ftr="0" hdr="0" sldNum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Name Car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08877895" name="Picture 6" descr="Celestia-R1---OverlayContentH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451943177" name="Title 1"/>
          <p:cNvSpPr>
            <a:spLocks noGrp="1"/>
          </p:cNvSpPr>
          <p:nvPr>
            <p:ph type="title"/>
          </p:nvPr>
        </p:nvSpPr>
        <p:spPr bwMode="auto"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4379375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6050158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7E0CF6C-748E-4B7A-BC8B-3011EF78ED13}" type="datetime1">
              <a:rPr lang="en-US"/>
              <a:t>5/5/26</a:t>
            </a:fld>
            <a:endParaRPr lang="en-US"/>
          </a:p>
        </p:txBody>
      </p:sp>
      <p:sp>
        <p:nvSpPr>
          <p:cNvPr id="165662096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179530913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B850FF-6169-4056-8077-06FFA93A536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hf dt="0" ftr="0" hdr="0" sldNum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Quote Name Card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60845429" name="Picture 10" descr="Celestia-R1---OverlayContentH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478824665" name="TextBox 12"/>
          <p:cNvSpPr txBox="1"/>
          <p:nvPr/>
        </p:nvSpPr>
        <p:spPr bwMode="auto">
          <a:xfrm>
            <a:off x="10237867" y="2743200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8000">
                <a:solidFill>
                  <a:schemeClr val="tx1"/>
                </a:solidFill>
              </a:rPr>
              <a:t>”</a:t>
            </a:r>
            <a:endParaRPr/>
          </a:p>
        </p:txBody>
      </p:sp>
      <p:sp>
        <p:nvSpPr>
          <p:cNvPr id="1760424753" name="TextBox 13"/>
          <p:cNvSpPr txBox="1"/>
          <p:nvPr/>
        </p:nvSpPr>
        <p:spPr bwMode="auto">
          <a:xfrm>
            <a:off x="488275" y="823337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8000">
                <a:solidFill>
                  <a:schemeClr val="tx1"/>
                </a:solidFill>
              </a:rPr>
              <a:t>“</a:t>
            </a:r>
            <a:endParaRPr/>
          </a:p>
        </p:txBody>
      </p:sp>
      <p:sp>
        <p:nvSpPr>
          <p:cNvPr id="736104836" name="Title 1"/>
          <p:cNvSpPr>
            <a:spLocks noGrp="1"/>
          </p:cNvSpPr>
          <p:nvPr>
            <p:ph type="title"/>
          </p:nvPr>
        </p:nvSpPr>
        <p:spPr bwMode="auto"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54152570" name="Text Placeholder 9"/>
          <p:cNvSpPr>
            <a:spLocks noGrp="1"/>
          </p:cNvSpPr>
          <p:nvPr>
            <p:ph type="body" sz="quarter" idx="13"/>
          </p:nvPr>
        </p:nvSpPr>
        <p:spPr bwMode="auto"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>
                <a:ln w="3175" cmpd="sng">
                  <a:noFill/>
                </a:ln>
                <a:solidFill>
                  <a:schemeClr val="tx1"/>
                </a:solidFill>
              </a:defRPr>
            </a:lvl1pPr>
          </a:lstStyle>
          <a:p>
            <a:pPr marL="0" lvl="0">
              <a:spcBef>
                <a:spcPts val="0"/>
              </a:spcBef>
              <a:buNone/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191166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5004878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7E0CF6C-748E-4B7A-BC8B-3011EF78ED13}" type="datetime1">
              <a:rPr lang="en-US"/>
              <a:t>5/5/26</a:t>
            </a:fld>
            <a:endParaRPr lang="en-US"/>
          </a:p>
        </p:txBody>
      </p:sp>
      <p:sp>
        <p:nvSpPr>
          <p:cNvPr id="139890022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42485121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B850FF-6169-4056-8077-06FFA93A536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hf dt="0" ftr="0" hdr="0" sldNum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True or Fals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61324782" name="Picture 7" descr="Celestia-R1---OverlayContentH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141056410" name="Title 1"/>
          <p:cNvSpPr>
            <a:spLocks noGrp="1"/>
          </p:cNvSpPr>
          <p:nvPr>
            <p:ph type="title"/>
          </p:nvPr>
        </p:nvSpPr>
        <p:spPr bwMode="auto"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/>
            </a:lvl1pPr>
          </a:lstStyle>
          <a:p>
            <a:pPr marL="0" lvl="0"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45101378" name="Text Placeholder 9"/>
          <p:cNvSpPr>
            <a:spLocks noGrp="1"/>
          </p:cNvSpPr>
          <p:nvPr>
            <p:ph type="body" sz="quarter" idx="13"/>
          </p:nvPr>
        </p:nvSpPr>
        <p:spPr bwMode="auto">
          <a:xfrm>
            <a:off x="685801" y="3505199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>
                <a:ln w="3175" cmpd="sng">
                  <a:noFill/>
                </a:ln>
                <a:solidFill>
                  <a:schemeClr val="tx1"/>
                </a:solidFill>
              </a:defRPr>
            </a:lvl1pPr>
          </a:lstStyle>
          <a:p>
            <a:pPr marL="0" lvl="0">
              <a:spcBef>
                <a:spcPts val="0"/>
              </a:spcBef>
              <a:buNone/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2720578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9569857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7E0CF6C-748E-4B7A-BC8B-3011EF78ED13}" type="datetime1">
              <a:rPr lang="en-US"/>
              <a:t>5/5/26</a:t>
            </a:fld>
            <a:endParaRPr lang="en-US"/>
          </a:p>
        </p:txBody>
      </p:sp>
      <p:sp>
        <p:nvSpPr>
          <p:cNvPr id="128785387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88311638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B850FF-6169-4056-8077-06FFA93A536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hf dt="0" ftr="0" hdr="0" sldNum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63482321" name="Picture 6" descr="Celestia-R1---OverlayContentH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472832934" name="Title 1"/>
          <p:cNvSpPr>
            <a:spLocks noGrp="1"/>
          </p:cNvSpPr>
          <p:nvPr>
            <p:ph type="title"/>
          </p:nvPr>
        </p:nvSpPr>
        <p:spPr bwMode="auto">
          <a:xfrm>
            <a:off x="685801" y="609600"/>
            <a:ext cx="10131425" cy="1456267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4679775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 anchor="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37998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4C559632-1575-4E14-B53B-3DC3D5ED3947}" type="datetime1">
              <a:rPr lang="en-US"/>
              <a:t>5/5/26</a:t>
            </a:fld>
            <a:endParaRPr lang="en-US"/>
          </a:p>
        </p:txBody>
      </p:sp>
      <p:sp>
        <p:nvSpPr>
          <p:cNvPr id="94323404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75462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B850FF-6169-4056-8077-06FFA93A536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74520584" name="Picture 6" descr="Celestia-R1---OverlayContentHD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11490311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658675" y="609599"/>
            <a:ext cx="2158552" cy="5181601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2141064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14680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C4A6868-2568-4CC9-B302-F37117B01A6E}" type="datetime1">
              <a:rPr lang="en-US"/>
              <a:t>5/5/26</a:t>
            </a:fld>
            <a:endParaRPr lang="en-US"/>
          </a:p>
        </p:txBody>
      </p:sp>
      <p:sp>
        <p:nvSpPr>
          <p:cNvPr id="36050244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2647229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73B850FF-6169-4056-8077-06FFA93A536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3">
        <a:schemeClr val="bg2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3605151" name="Title Placeholder 1"/>
          <p:cNvSpPr>
            <a:spLocks noGrp="1"/>
          </p:cNvSpPr>
          <p:nvPr>
            <p:ph type="title"/>
          </p:nvPr>
        </p:nvSpPr>
        <p:spPr bwMode="auto"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1405294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5801" y="2142067"/>
            <a:ext cx="10131425" cy="36491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150370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fld id="{57E0CF6C-748E-4B7A-BC8B-3011EF78ED13}" type="datetime1">
              <a:rPr lang="en-US"/>
              <a:t>5/5/26</a:t>
            </a:fld>
            <a:endParaRPr lang="en-US"/>
          </a:p>
        </p:txBody>
      </p:sp>
      <p:sp>
        <p:nvSpPr>
          <p:cNvPr id="190088589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177904605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fld id="{73B850FF-6169-4056-8077-06FFA93A5366}" type="slidenum">
              <a:rPr lang="en-US"/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dt="0" ftr="0" hdr="0" sldNum="0"/>
  <p:txStyles>
    <p:titleStyle>
      <a:lvl1pPr algn="l" defTabSz="457200" rtl="0">
        <a:spcBef>
          <a:spcPts val="0"/>
        </a:spcBef>
        <a:buNone/>
        <a:defRPr sz="3600" cap="all">
          <a:ln w="3175" cmpd="sng">
            <a:noFill/>
          </a:ln>
          <a:solidFill>
            <a:schemeClr val="tx1"/>
          </a:solidFill>
          <a:latin typeface="+mj-lt"/>
          <a:ea typeface="+mj-ea"/>
          <a:cs typeface="+mj-cs"/>
        </a:defRPr>
      </a:lvl1pPr>
      <a:lvl2pPr>
        <a:defRPr>
          <a:solidFill>
            <a:schemeClr val="tx2"/>
          </a:solidFill>
        </a:defRPr>
      </a:lvl2pPr>
      <a:lvl3pPr>
        <a:defRPr>
          <a:solidFill>
            <a:schemeClr val="tx2"/>
          </a:solidFill>
        </a:defRPr>
      </a:lvl3pPr>
      <a:lvl4pPr>
        <a:defRPr>
          <a:solidFill>
            <a:schemeClr val="tx2"/>
          </a:solidFill>
        </a:defRPr>
      </a:lvl4pPr>
      <a:lvl5pPr>
        <a:defRPr>
          <a:solidFill>
            <a:schemeClr val="tx2"/>
          </a:solidFill>
        </a:defRPr>
      </a:lvl5pPr>
      <a:lvl6pPr>
        <a:defRPr>
          <a:solidFill>
            <a:schemeClr val="tx2"/>
          </a:solidFill>
        </a:defRPr>
      </a:lvl6pPr>
      <a:lvl7pPr>
        <a:defRPr>
          <a:solidFill>
            <a:schemeClr val="tx2"/>
          </a:solidFill>
        </a:defRPr>
      </a:lvl7pPr>
      <a:lvl8pPr>
        <a:defRPr>
          <a:solidFill>
            <a:schemeClr val="tx2"/>
          </a:solidFill>
        </a:defRPr>
      </a:lvl8pPr>
      <a:lvl9pPr>
        <a:defRPr>
          <a:solidFill>
            <a:schemeClr val="tx2"/>
          </a:solidFill>
        </a:defRPr>
      </a:lvl9pPr>
    </p:titleStyle>
    <p:bodyStyle>
      <a:lvl1pPr marL="285750" indent="-285750" algn="l" defTabSz="457200" rtl="0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cap="none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cap="none">
          <a:solidFill>
            <a:schemeClr val="tx1"/>
          </a:solidFill>
          <a:latin typeface="+mn-lt"/>
          <a:ea typeface="+mn-ea"/>
          <a:cs typeface="+mn-cs"/>
        </a:defRPr>
      </a:lvl2pPr>
      <a:lvl3pPr marL="1200150" indent="-285750" algn="l" defTabSz="457200" rtl="0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cap="none">
          <a:solidFill>
            <a:schemeClr val="tx1"/>
          </a:solidFill>
          <a:latin typeface="+mn-lt"/>
          <a:ea typeface="+mn-ea"/>
          <a:cs typeface="+mn-cs"/>
        </a:defRPr>
      </a:lvl3pPr>
      <a:lvl4pPr marL="1543050" indent="-171450" algn="l" defTabSz="457200" rtl="0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cap="none">
          <a:solidFill>
            <a:schemeClr val="tx1"/>
          </a:solidFill>
          <a:latin typeface="+mn-lt"/>
          <a:ea typeface="+mn-ea"/>
          <a:cs typeface="+mn-cs"/>
        </a:defRPr>
      </a:lvl4pPr>
      <a:lvl5pPr marL="2000250" indent="-171450" algn="l" defTabSz="457200" rtl="0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cap="none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cap="none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cap="none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cap="none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cap="none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4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4175256" name="Subtitle 2"/>
          <p:cNvSpPr>
            <a:spLocks noGrp="1"/>
          </p:cNvSpPr>
          <p:nvPr>
            <p:ph type="subTitle" idx="1"/>
          </p:nvPr>
        </p:nvSpPr>
        <p:spPr bwMode="auto">
          <a:xfrm>
            <a:off x="1286931" y="5255343"/>
            <a:ext cx="10905069" cy="501994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sz="2800" b="1">
                <a:latin typeface="Times New Roman"/>
                <a:cs typeface="Times New Roman"/>
              </a:rPr>
              <a:t>Gabrielle , Micah , Thomas, and Izaiah </a:t>
            </a:r>
            <a:endParaRPr/>
          </a:p>
        </p:txBody>
      </p:sp>
      <p:pic>
        <p:nvPicPr>
          <p:cNvPr id="1377826512" name="Picture 7" descr="A blue text on a black background&#10;&#10;Description automatically generated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09290" y="1417185"/>
            <a:ext cx="11973419" cy="3621959"/>
          </a:xfrm>
          <a:prstGeom prst="roundRect">
            <a:avLst>
              <a:gd name="adj" fmla="val 4380"/>
            </a:avLst>
          </a:prstGeom>
          <a:ln w="50800" cap="sq" cmpd="dbl">
            <a:gradFill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9764236" name="Title 1"/>
          <p:cNvSpPr>
            <a:spLocks noGrp="1"/>
          </p:cNvSpPr>
          <p:nvPr>
            <p:ph type="title"/>
          </p:nvPr>
        </p:nvSpPr>
        <p:spPr bwMode="auto">
          <a:xfrm>
            <a:off x="975129" y="1"/>
            <a:ext cx="10006464" cy="1380392"/>
          </a:xfrm>
        </p:spPr>
        <p:txBody>
          <a:bodyPr>
            <a:normAutofit fontScale="90000"/>
          </a:bodyPr>
          <a:lstStyle/>
          <a:p>
            <a:pPr algn="ctr">
              <a:defRPr/>
            </a:pPr>
            <a:r>
              <a:rPr lang="en-US" sz="5400" b="1">
                <a:latin typeface="Times New Roman"/>
                <a:cs typeface="Times New Roman"/>
              </a:rPr>
              <a:t>How the system operates</a:t>
            </a:r>
            <a:endParaRPr/>
          </a:p>
        </p:txBody>
      </p:sp>
      <p:sp>
        <p:nvSpPr>
          <p:cNvPr id="1904259543" name="Content Placeholder 2"/>
          <p:cNvSpPr>
            <a:spLocks noGrp="1"/>
          </p:cNvSpPr>
          <p:nvPr>
            <p:ph idx="1"/>
          </p:nvPr>
        </p:nvSpPr>
        <p:spPr bwMode="auto">
          <a:xfrm>
            <a:off x="650632" y="1204939"/>
            <a:ext cx="10710080" cy="5363570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sz="2400" b="1">
                <a:latin typeface="Times New Roman"/>
                <a:cs typeface="Times New Roman"/>
              </a:rPr>
              <a:t>Client-Server Architecture:</a:t>
            </a:r>
            <a:r>
              <a:rPr lang="en-US" sz="2400">
                <a:latin typeface="Times New Roman"/>
                <a:cs typeface="Times New Roman"/>
              </a:rPr>
              <a:t> One Raspberry Pi acts as the </a:t>
            </a:r>
            <a:r>
              <a:rPr lang="en-US" sz="2400" b="1">
                <a:latin typeface="Times New Roman"/>
                <a:cs typeface="Times New Roman"/>
              </a:rPr>
              <a:t>Host</a:t>
            </a:r>
            <a:r>
              <a:rPr lang="en-US" sz="2400">
                <a:latin typeface="Times New Roman"/>
                <a:cs typeface="Times New Roman"/>
              </a:rPr>
              <a:t> (the brain), while all other </a:t>
            </a:r>
            <a:r>
              <a:rPr lang="en-US" sz="2400">
                <a:latin typeface="Times New Roman"/>
                <a:cs typeface="Times New Roman"/>
              </a:rPr>
              <a:t>Pis</a:t>
            </a:r>
            <a:r>
              <a:rPr lang="en-US" sz="2400">
                <a:latin typeface="Times New Roman"/>
                <a:cs typeface="Times New Roman"/>
              </a:rPr>
              <a:t> connect as </a:t>
            </a:r>
            <a:r>
              <a:rPr lang="en-US" sz="2400" b="1">
                <a:latin typeface="Times New Roman"/>
                <a:cs typeface="Times New Roman"/>
              </a:rPr>
              <a:t>Clients</a:t>
            </a:r>
            <a:r>
              <a:rPr lang="en-US" sz="2400">
                <a:latin typeface="Times New Roman"/>
                <a:cs typeface="Times New Roman"/>
              </a:rPr>
              <a:t> (the controllers).</a:t>
            </a:r>
            <a:endParaRPr/>
          </a:p>
          <a:p>
            <a:pPr>
              <a:defRPr/>
            </a:pPr>
            <a:r>
              <a:rPr lang="en-US" sz="2400" b="1">
                <a:latin typeface="Times New Roman"/>
                <a:cs typeface="Times New Roman"/>
              </a:rPr>
              <a:t>Star Topology:</a:t>
            </a:r>
            <a:r>
              <a:rPr lang="en-US" sz="2400">
                <a:latin typeface="Times New Roman"/>
                <a:cs typeface="Times New Roman"/>
              </a:rPr>
              <a:t> Every player communicates directly with the Host, ensuring all participants see the exact same game state at the same time.</a:t>
            </a:r>
            <a:endParaRPr/>
          </a:p>
          <a:p>
            <a:pPr>
              <a:defRPr/>
            </a:pPr>
            <a:r>
              <a:rPr lang="en-US" sz="2400" b="1">
                <a:latin typeface="Times New Roman"/>
                <a:cs typeface="Times New Roman"/>
              </a:rPr>
              <a:t>TCP/IP Networking:</a:t>
            </a:r>
            <a:r>
              <a:rPr lang="en-US" sz="2400">
                <a:latin typeface="Times New Roman"/>
                <a:cs typeface="Times New Roman"/>
              </a:rPr>
              <a:t> Uses "Transmission Control Protocol" to ensure game data (like moves and scores) arrives reliably and in the correct order across the local network.</a:t>
            </a:r>
            <a:endParaRPr/>
          </a:p>
          <a:p>
            <a:pPr>
              <a:defRPr/>
            </a:pPr>
            <a:r>
              <a:rPr lang="en-US" sz="2400" b="1">
                <a:latin typeface="Times New Roman"/>
                <a:cs typeface="Times New Roman"/>
              </a:rPr>
              <a:t>Terminal Rendering:</a:t>
            </a:r>
            <a:r>
              <a:rPr lang="en-US" sz="2400">
                <a:latin typeface="Times New Roman"/>
                <a:cs typeface="Times New Roman"/>
              </a:rPr>
              <a:t> Instead of heavy graphics, the system uses the </a:t>
            </a:r>
            <a:r>
              <a:rPr lang="en-US" sz="2400" b="1">
                <a:latin typeface="Times New Roman"/>
                <a:cs typeface="Times New Roman"/>
              </a:rPr>
              <a:t>Curses library</a:t>
            </a:r>
            <a:r>
              <a:rPr lang="en-US" sz="2400">
                <a:latin typeface="Times New Roman"/>
                <a:cs typeface="Times New Roman"/>
              </a:rPr>
              <a:t> to "draw" game boards and animations using text characters and colors.</a:t>
            </a:r>
            <a:endParaRPr/>
          </a:p>
          <a:p>
            <a:pPr>
              <a:defRPr/>
            </a:pPr>
            <a:r>
              <a:rPr lang="en-US" sz="2400" b="1">
                <a:latin typeface="Times New Roman"/>
                <a:cs typeface="Times New Roman"/>
              </a:rPr>
              <a:t>Non-Blocking Input:</a:t>
            </a:r>
            <a:r>
              <a:rPr lang="en-US" sz="2400">
                <a:latin typeface="Times New Roman"/>
                <a:cs typeface="Times New Roman"/>
              </a:rPr>
              <a:t> The system is programmed to keep the game moving (like ghosts chasing you) even if a player isn't pressing any buttons.</a:t>
            </a:r>
            <a:endParaRPr/>
          </a:p>
          <a:p>
            <a:pPr>
              <a:defRPr/>
            </a:pPr>
            <a:r>
              <a:rPr lang="en-US" sz="2400" b="1">
                <a:latin typeface="Times New Roman"/>
                <a:cs typeface="Times New Roman"/>
              </a:rPr>
              <a:t>Automated Logic:</a:t>
            </a:r>
            <a:r>
              <a:rPr lang="en-US" sz="2400">
                <a:latin typeface="Times New Roman"/>
                <a:cs typeface="Times New Roman"/>
              </a:rPr>
              <a:t> The Host runs pathfinding algorithms (BFS) for enemies, ensuring the game provides a consistent challenge for all connected players.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8071200" name="Title 1"/>
          <p:cNvSpPr>
            <a:spLocks noGrp="1"/>
          </p:cNvSpPr>
          <p:nvPr>
            <p:ph type="title"/>
          </p:nvPr>
        </p:nvSpPr>
        <p:spPr bwMode="auto">
          <a:xfrm>
            <a:off x="917813" y="0"/>
            <a:ext cx="10131425" cy="1456267"/>
          </a:xfrm>
        </p:spPr>
        <p:txBody>
          <a:bodyPr>
            <a:normAutofit/>
          </a:bodyPr>
          <a:lstStyle/>
          <a:p>
            <a:pPr algn="ctr">
              <a:defRPr/>
            </a:pPr>
            <a:r>
              <a:rPr lang="en-US" sz="5400" b="1">
                <a:latin typeface="Times New Roman"/>
                <a:cs typeface="Times New Roman"/>
              </a:rPr>
              <a:t>Game 1: Heads or Tails</a:t>
            </a:r>
            <a:endParaRPr/>
          </a:p>
        </p:txBody>
      </p:sp>
      <p:sp>
        <p:nvSpPr>
          <p:cNvPr id="662193500" name="Content Placeholder 2"/>
          <p:cNvSpPr>
            <a:spLocks noGrp="1"/>
          </p:cNvSpPr>
          <p:nvPr>
            <p:ph idx="1"/>
          </p:nvPr>
        </p:nvSpPr>
        <p:spPr bwMode="auto">
          <a:xfrm>
            <a:off x="293309" y="1227667"/>
            <a:ext cx="6325856" cy="5323258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400" b="1">
                <a:latin typeface="Times New Roman"/>
                <a:cs typeface="Times New Roman"/>
              </a:rPr>
              <a:t>Purpose:</a:t>
            </a:r>
            <a:r>
              <a:rPr lang="en-US" sz="2400">
                <a:latin typeface="Times New Roman"/>
                <a:cs typeface="Times New Roman"/>
              </a:rPr>
              <a:t> A quick-fire test of the network's ability to handle rapid-response binary choices and synchronized resolution.</a:t>
            </a:r>
            <a:endParaRPr/>
          </a:p>
          <a:p>
            <a:pPr>
              <a:defRPr/>
            </a:pPr>
            <a:r>
              <a:rPr lang="en-US" sz="2400" b="1">
                <a:latin typeface="Times New Roman"/>
                <a:cs typeface="Times New Roman"/>
              </a:rPr>
              <a:t>Python Functions &amp; Logic:</a:t>
            </a:r>
            <a:endParaRPr lang="en-US" sz="2400">
              <a:latin typeface="Times New Roman"/>
              <a:cs typeface="Times New Roman"/>
            </a:endParaRPr>
          </a:p>
          <a:p>
            <a:pPr>
              <a:buFont typeface="Arial"/>
              <a:buChar char="•"/>
              <a:defRPr/>
            </a:pPr>
            <a:r>
              <a:rPr lang="en-US" sz="2400">
                <a:latin typeface="Times New Roman"/>
                <a:cs typeface="Times New Roman"/>
              </a:rPr>
              <a:t>random.choice</a:t>
            </a:r>
            <a:r>
              <a:rPr lang="en-US" sz="2400">
                <a:latin typeface="Times New Roman"/>
                <a:cs typeface="Times New Roman"/>
              </a:rPr>
              <a:t>(['Heads', 'Tails']): Used by the server to determine the winning outcome.</a:t>
            </a:r>
            <a:endParaRPr/>
          </a:p>
          <a:p>
            <a:pPr>
              <a:buFont typeface="Arial"/>
              <a:buChar char="•"/>
              <a:defRPr/>
            </a:pPr>
            <a:r>
              <a:rPr lang="en-US" sz="2400">
                <a:latin typeface="Times New Roman"/>
                <a:cs typeface="Times New Roman"/>
              </a:rPr>
              <a:t>input().strip().upper(): Captures the player's choice and cleans the data before sending.</a:t>
            </a:r>
            <a:endParaRPr/>
          </a:p>
          <a:p>
            <a:pPr>
              <a:buFont typeface="Arial"/>
              <a:buChar char="•"/>
              <a:defRPr/>
            </a:pPr>
            <a:r>
              <a:rPr lang="en-US" sz="2400">
                <a:latin typeface="Times New Roman"/>
                <a:cs typeface="Times New Roman"/>
              </a:rPr>
              <a:t>send_data</a:t>
            </a:r>
            <a:r>
              <a:rPr lang="en-US" sz="2400">
                <a:latin typeface="Times New Roman"/>
                <a:cs typeface="Times New Roman"/>
              </a:rPr>
              <a:t>() / </a:t>
            </a:r>
            <a:r>
              <a:rPr lang="en-US" sz="2400">
                <a:latin typeface="Times New Roman"/>
                <a:cs typeface="Times New Roman"/>
              </a:rPr>
              <a:t>recv_data</a:t>
            </a:r>
            <a:r>
              <a:rPr lang="en-US" sz="2400">
                <a:latin typeface="Times New Roman"/>
                <a:cs typeface="Times New Roman"/>
              </a:rPr>
              <a:t>(): Custom wrapper functions for </a:t>
            </a:r>
            <a:r>
              <a:rPr lang="en-US" sz="2400">
                <a:latin typeface="Times New Roman"/>
                <a:cs typeface="Times New Roman"/>
              </a:rPr>
              <a:t>socket.send</a:t>
            </a:r>
            <a:r>
              <a:rPr lang="en-US" sz="2400">
                <a:latin typeface="Times New Roman"/>
                <a:cs typeface="Times New Roman"/>
              </a:rPr>
              <a:t>() and </a:t>
            </a:r>
            <a:r>
              <a:rPr lang="en-US" sz="2400">
                <a:latin typeface="Times New Roman"/>
                <a:cs typeface="Times New Roman"/>
              </a:rPr>
              <a:t>socket.recv</a:t>
            </a:r>
            <a:r>
              <a:rPr lang="en-US" sz="2400">
                <a:latin typeface="Times New Roman"/>
                <a:cs typeface="Times New Roman"/>
              </a:rPr>
              <a:t>() to exchange JSON packets between the Pi and the Host.</a:t>
            </a:r>
            <a:endParaRPr/>
          </a:p>
        </p:txBody>
      </p:sp>
      <p:pic>
        <p:nvPicPr>
          <p:cNvPr id="118854051" name="Picture 4" descr="A screenshot of a computer screen&#10;&#10;Description automatically generated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619165" y="2038349"/>
            <a:ext cx="5279526" cy="341969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4310496" name="Title 1"/>
          <p:cNvSpPr>
            <a:spLocks noGrp="1"/>
          </p:cNvSpPr>
          <p:nvPr>
            <p:ph type="title"/>
          </p:nvPr>
        </p:nvSpPr>
        <p:spPr bwMode="auto">
          <a:xfrm>
            <a:off x="125794" y="-214320"/>
            <a:ext cx="11772899" cy="1456267"/>
          </a:xfrm>
        </p:spPr>
        <p:txBody>
          <a:bodyPr>
            <a:noAutofit/>
          </a:bodyPr>
          <a:lstStyle/>
          <a:p>
            <a:pPr algn="ctr">
              <a:defRPr/>
            </a:pPr>
            <a:r>
              <a:rPr lang="en-US" sz="5400" b="1">
                <a:latin typeface="Times New Roman"/>
                <a:cs typeface="Times New Roman"/>
              </a:rPr>
              <a:t>Game 2: Rock, Paper, Scissors</a:t>
            </a:r>
            <a:endParaRPr/>
          </a:p>
        </p:txBody>
      </p:sp>
      <p:sp>
        <p:nvSpPr>
          <p:cNvPr id="2058826840" name="Content Placeholder 2"/>
          <p:cNvSpPr>
            <a:spLocks noGrp="1"/>
          </p:cNvSpPr>
          <p:nvPr>
            <p:ph idx="1"/>
          </p:nvPr>
        </p:nvSpPr>
        <p:spPr bwMode="auto">
          <a:xfrm>
            <a:off x="128725" y="1145232"/>
            <a:ext cx="6667051" cy="5322626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sz="2400" b="1">
                <a:latin typeface="Times New Roman"/>
                <a:cs typeface="Times New Roman"/>
              </a:rPr>
              <a:t>Purpose:</a:t>
            </a:r>
            <a:r>
              <a:rPr lang="en-US" sz="2400">
                <a:latin typeface="Times New Roman"/>
                <a:cs typeface="Times New Roman"/>
              </a:rPr>
              <a:t> Demonstrates server-side logic validation where the Host must compare multiple client inputs against a central "AI" move.</a:t>
            </a:r>
            <a:endParaRPr/>
          </a:p>
          <a:p>
            <a:pPr>
              <a:defRPr/>
            </a:pPr>
            <a:r>
              <a:rPr lang="en-US" sz="2400" b="1">
                <a:latin typeface="Times New Roman"/>
                <a:cs typeface="Times New Roman"/>
              </a:rPr>
              <a:t>Python Functions &amp; Logic:</a:t>
            </a:r>
            <a:endParaRPr lang="en-US" sz="2400">
              <a:latin typeface="Times New Roman"/>
              <a:cs typeface="Times New Roman"/>
            </a:endParaRPr>
          </a:p>
          <a:p>
            <a:pPr>
              <a:buFont typeface="Arial"/>
              <a:buChar char="•"/>
              <a:defRPr/>
            </a:pPr>
            <a:r>
              <a:rPr lang="en-US" sz="2400" b="1">
                <a:latin typeface="Times New Roman"/>
                <a:cs typeface="Times New Roman"/>
              </a:rPr>
              <a:t>Logic Mapping:</a:t>
            </a:r>
            <a:r>
              <a:rPr lang="en-US" sz="2400">
                <a:latin typeface="Times New Roman"/>
                <a:cs typeface="Times New Roman"/>
              </a:rPr>
              <a:t> Uses a Dictionary or Nested if/</a:t>
            </a:r>
            <a:r>
              <a:rPr lang="en-US" sz="2400">
                <a:latin typeface="Times New Roman"/>
                <a:cs typeface="Times New Roman"/>
              </a:rPr>
              <a:t>elif</a:t>
            </a:r>
            <a:r>
              <a:rPr lang="en-US" sz="2400">
                <a:latin typeface="Times New Roman"/>
                <a:cs typeface="Times New Roman"/>
              </a:rPr>
              <a:t> statements to define win/loss/tie conditions (e.g., if user == 'R' and computer == 'S').</a:t>
            </a:r>
            <a:endParaRPr/>
          </a:p>
          <a:p>
            <a:pPr>
              <a:buFont typeface="Arial"/>
              <a:buChar char="•"/>
              <a:defRPr/>
            </a:pPr>
            <a:r>
              <a:rPr lang="en-US" sz="2400">
                <a:latin typeface="Times New Roman"/>
                <a:cs typeface="Times New Roman"/>
              </a:rPr>
              <a:t>time.sleep</a:t>
            </a:r>
            <a:r>
              <a:rPr lang="en-US" sz="2400">
                <a:latin typeface="Times New Roman"/>
                <a:cs typeface="Times New Roman"/>
              </a:rPr>
              <a:t>(): Orchestrates the "Rock... Paper... Scissors... Shoot!" countdown across all connected terminals.</a:t>
            </a:r>
            <a:endParaRPr/>
          </a:p>
          <a:p>
            <a:pPr>
              <a:buFont typeface="Arial"/>
              <a:buChar char="•"/>
              <a:defRPr/>
            </a:pPr>
            <a:r>
              <a:rPr lang="en-US" sz="2400">
                <a:latin typeface="Times New Roman"/>
                <a:cs typeface="Times New Roman"/>
              </a:rPr>
              <a:t>json.dumps</a:t>
            </a:r>
            <a:r>
              <a:rPr lang="en-US" sz="2400">
                <a:latin typeface="Times New Roman"/>
                <a:cs typeface="Times New Roman"/>
              </a:rPr>
              <a:t>(): Converts the player's move into a string format that can be transmitted over the TCP socket.</a:t>
            </a:r>
            <a:endParaRPr/>
          </a:p>
        </p:txBody>
      </p:sp>
      <p:pic>
        <p:nvPicPr>
          <p:cNvPr id="1615214559" name="Picture 6" descr="A screen shot of a computer screen&#10;&#10;Description automatically generated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603744" y="2338754"/>
            <a:ext cx="5485068" cy="270596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2471152" name="Title 1"/>
          <p:cNvSpPr>
            <a:spLocks noGrp="1"/>
          </p:cNvSpPr>
          <p:nvPr>
            <p:ph type="title"/>
          </p:nvPr>
        </p:nvSpPr>
        <p:spPr bwMode="auto">
          <a:xfrm>
            <a:off x="-158262" y="-193430"/>
            <a:ext cx="12350262" cy="1354014"/>
          </a:xfrm>
        </p:spPr>
        <p:txBody>
          <a:bodyPr>
            <a:noAutofit/>
          </a:bodyPr>
          <a:lstStyle/>
          <a:p>
            <a:pPr algn="ctr">
              <a:defRPr/>
            </a:pPr>
            <a:r>
              <a:rPr lang="en-US" sz="5400" b="1">
                <a:latin typeface="Times New Roman"/>
                <a:cs typeface="Times New Roman"/>
              </a:rPr>
              <a:t>Game 3: Number Guessing Game</a:t>
            </a:r>
            <a:endParaRPr/>
          </a:p>
        </p:txBody>
      </p:sp>
      <p:sp>
        <p:nvSpPr>
          <p:cNvPr id="822347079" name="Content Placeholder 2"/>
          <p:cNvSpPr>
            <a:spLocks noGrp="1"/>
          </p:cNvSpPr>
          <p:nvPr>
            <p:ph idx="1"/>
          </p:nvPr>
        </p:nvSpPr>
        <p:spPr bwMode="auto">
          <a:xfrm>
            <a:off x="179041" y="1160584"/>
            <a:ext cx="5837828" cy="5500048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sz="2400" b="1">
                <a:latin typeface="Times New Roman"/>
                <a:cs typeface="Times New Roman"/>
              </a:rPr>
              <a:t>Purpose:</a:t>
            </a:r>
            <a:r>
              <a:rPr lang="en-US" sz="2400">
                <a:latin typeface="Times New Roman"/>
                <a:cs typeface="Times New Roman"/>
              </a:rPr>
              <a:t> Showcases mathematical processing and "Shortest Distance" algorithms to determine a winner among multiple participants.</a:t>
            </a:r>
            <a:endParaRPr/>
          </a:p>
          <a:p>
            <a:pPr>
              <a:defRPr/>
            </a:pPr>
            <a:r>
              <a:rPr lang="en-US" sz="2400" b="1">
                <a:latin typeface="Times New Roman"/>
                <a:cs typeface="Times New Roman"/>
              </a:rPr>
              <a:t>Python Functions &amp; Logic:</a:t>
            </a:r>
            <a:endParaRPr lang="en-US" sz="2400">
              <a:latin typeface="Times New Roman"/>
              <a:cs typeface="Times New Roman"/>
            </a:endParaRPr>
          </a:p>
          <a:p>
            <a:pPr>
              <a:buFont typeface="Arial"/>
              <a:buChar char="•"/>
              <a:defRPr/>
            </a:pPr>
            <a:r>
              <a:rPr lang="en-US" sz="2400">
                <a:latin typeface="Times New Roman"/>
                <a:cs typeface="Times New Roman"/>
              </a:rPr>
              <a:t>random.randint</a:t>
            </a:r>
            <a:r>
              <a:rPr lang="en-US" sz="2400">
                <a:latin typeface="Times New Roman"/>
                <a:cs typeface="Times New Roman"/>
              </a:rPr>
              <a:t>(1, 100): Generates the secret target number on the Host machine.</a:t>
            </a:r>
            <a:endParaRPr/>
          </a:p>
          <a:p>
            <a:pPr>
              <a:buFont typeface="Arial"/>
              <a:buChar char="•"/>
              <a:defRPr/>
            </a:pPr>
            <a:r>
              <a:rPr lang="en-US" sz="2400">
                <a:latin typeface="Times New Roman"/>
                <a:cs typeface="Times New Roman"/>
              </a:rPr>
              <a:t>abs(target - guess): The </a:t>
            </a:r>
            <a:r>
              <a:rPr lang="en-US" sz="2400" b="1">
                <a:latin typeface="Times New Roman"/>
                <a:cs typeface="Times New Roman"/>
              </a:rPr>
              <a:t>Absolute Value</a:t>
            </a:r>
            <a:r>
              <a:rPr lang="en-US" sz="2400">
                <a:latin typeface="Times New Roman"/>
                <a:cs typeface="Times New Roman"/>
              </a:rPr>
              <a:t> function calculates how far each player is from the target, regardless of whether they guessed too high or too low.</a:t>
            </a:r>
            <a:endParaRPr/>
          </a:p>
          <a:p>
            <a:pPr>
              <a:buFont typeface="Arial"/>
              <a:buChar char="•"/>
              <a:defRPr/>
            </a:pPr>
            <a:r>
              <a:rPr lang="en-US" sz="2400">
                <a:latin typeface="Times New Roman"/>
                <a:cs typeface="Times New Roman"/>
              </a:rPr>
              <a:t>min(): Applied to a list of player distances to identify the "closest" guess and declare the round winner.</a:t>
            </a:r>
            <a:endParaRPr/>
          </a:p>
          <a:p>
            <a:pPr>
              <a:defRPr/>
            </a:pPr>
            <a:endParaRPr lang="en-US"/>
          </a:p>
        </p:txBody>
      </p:sp>
      <p:pic>
        <p:nvPicPr>
          <p:cNvPr id="1244601104" name="Picture 4" descr="A purple and blue text&#10;&#10;Description automatically generated"/>
          <p:cNvPicPr>
            <a:picLocks noChangeAspect="1"/>
          </p:cNvPicPr>
          <p:nvPr/>
        </p:nvPicPr>
        <p:blipFill rotWithShape="1">
          <a:blip r:embed="rId3"/>
          <a:srcRect l="0" t="8186" r="0" b="5626"/>
          <a:stretch/>
        </p:blipFill>
        <p:spPr bwMode="auto">
          <a:xfrm>
            <a:off x="5759494" y="2917572"/>
            <a:ext cx="6338802" cy="10448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260316" name="Title 1"/>
          <p:cNvSpPr>
            <a:spLocks noGrp="1"/>
          </p:cNvSpPr>
          <p:nvPr>
            <p:ph type="title"/>
          </p:nvPr>
        </p:nvSpPr>
        <p:spPr bwMode="auto">
          <a:xfrm>
            <a:off x="685801" y="-164123"/>
            <a:ext cx="10131425" cy="1456267"/>
          </a:xfrm>
        </p:spPr>
        <p:txBody>
          <a:bodyPr>
            <a:normAutofit/>
          </a:bodyPr>
          <a:lstStyle/>
          <a:p>
            <a:pPr algn="ctr">
              <a:defRPr/>
            </a:pPr>
            <a:r>
              <a:rPr lang="en-US" sz="5400" b="1">
                <a:latin typeface="Times New Roman"/>
                <a:cs typeface="Times New Roman"/>
              </a:rPr>
              <a:t>GAME 4: Snake </a:t>
            </a:r>
            <a:endParaRPr/>
          </a:p>
        </p:txBody>
      </p:sp>
      <p:sp>
        <p:nvSpPr>
          <p:cNvPr id="133232843" name="Content Placeholder 2"/>
          <p:cNvSpPr>
            <a:spLocks noGrp="1"/>
          </p:cNvSpPr>
          <p:nvPr>
            <p:ph idx="1"/>
          </p:nvPr>
        </p:nvSpPr>
        <p:spPr bwMode="auto">
          <a:xfrm>
            <a:off x="114300" y="1103272"/>
            <a:ext cx="6921500" cy="5754728"/>
          </a:xfrm>
        </p:spPr>
        <p:txBody>
          <a:bodyPr>
            <a:normAutofit fontScale="92500" lnSpcReduction="20000"/>
          </a:bodyPr>
          <a:lstStyle/>
          <a:p>
            <a:pPr>
              <a:defRPr/>
            </a:pPr>
            <a:r>
              <a:rPr lang="en-US" sz="2400" b="1">
                <a:latin typeface="Times New Roman"/>
                <a:cs typeface="Times New Roman"/>
              </a:rPr>
              <a:t>Purpose:</a:t>
            </a:r>
            <a:r>
              <a:rPr lang="en-US" sz="2400">
                <a:latin typeface="Times New Roman"/>
                <a:cs typeface="Times New Roman"/>
              </a:rPr>
              <a:t> Demonstrates real-time coordination tracking and collision detection within a terminal environment. </a:t>
            </a:r>
            <a:endParaRPr/>
          </a:p>
          <a:p>
            <a:pPr>
              <a:defRPr/>
            </a:pPr>
            <a:r>
              <a:rPr lang="en-US" sz="2400" b="1">
                <a:latin typeface="Times New Roman"/>
                <a:cs typeface="Times New Roman"/>
              </a:rPr>
              <a:t>Python Functions &amp; Logic:</a:t>
            </a:r>
            <a:endParaRPr lang="en-US" sz="2400">
              <a:latin typeface="Times New Roman"/>
              <a:cs typeface="Times New Roman"/>
            </a:endParaRPr>
          </a:p>
          <a:p>
            <a:pPr>
              <a:buFont typeface="Arial"/>
              <a:buChar char="•"/>
              <a:defRPr/>
            </a:pPr>
            <a:r>
              <a:rPr lang="en-US" sz="2400" b="1">
                <a:latin typeface="Times New Roman"/>
                <a:cs typeface="Times New Roman"/>
              </a:rPr>
              <a:t>curses.wrapper</a:t>
            </a:r>
            <a:r>
              <a:rPr lang="en-US" sz="2400" b="1">
                <a:latin typeface="Times New Roman"/>
                <a:cs typeface="Times New Roman"/>
              </a:rPr>
              <a:t>()</a:t>
            </a:r>
            <a:r>
              <a:rPr lang="en-US" sz="2400">
                <a:latin typeface="Times New Roman"/>
                <a:cs typeface="Times New Roman"/>
              </a:rPr>
              <a:t>: Switches the terminal into a "game window" that allows for colored graphics and exact positioning of characters. </a:t>
            </a:r>
            <a:endParaRPr/>
          </a:p>
          <a:p>
            <a:pPr>
              <a:buFont typeface="Arial"/>
              <a:buChar char="•"/>
              <a:defRPr/>
            </a:pPr>
            <a:r>
              <a:rPr lang="en-US" sz="2400" b="1">
                <a:latin typeface="Times New Roman"/>
                <a:cs typeface="Times New Roman"/>
              </a:rPr>
              <a:t>Coordinate Management</a:t>
            </a:r>
            <a:r>
              <a:rPr lang="en-US" sz="2400">
                <a:latin typeface="Times New Roman"/>
                <a:cs typeface="Times New Roman"/>
              </a:rPr>
              <a:t>: Stores the snake's body as a </a:t>
            </a:r>
            <a:r>
              <a:rPr lang="en-US" sz="2400" b="1">
                <a:latin typeface="Times New Roman"/>
                <a:cs typeface="Times New Roman"/>
              </a:rPr>
              <a:t>list of (x, y) points</a:t>
            </a:r>
            <a:r>
              <a:rPr lang="en-US" sz="2400">
                <a:latin typeface="Times New Roman"/>
                <a:cs typeface="Times New Roman"/>
              </a:rPr>
              <a:t> to track every segment on the 28 X 14 grid. </a:t>
            </a:r>
            <a:endParaRPr/>
          </a:p>
          <a:p>
            <a:pPr>
              <a:buFont typeface="Arial"/>
              <a:buChar char="•"/>
              <a:defRPr/>
            </a:pPr>
            <a:r>
              <a:rPr lang="en-US" sz="2400" b="1">
                <a:latin typeface="Times New Roman"/>
                <a:cs typeface="Times New Roman"/>
              </a:rPr>
              <a:t>_</a:t>
            </a:r>
            <a:r>
              <a:rPr lang="en-US" sz="2400" b="1">
                <a:latin typeface="Times New Roman"/>
                <a:cs typeface="Times New Roman"/>
              </a:rPr>
              <a:t>is_wall</a:t>
            </a:r>
            <a:r>
              <a:rPr lang="en-US" sz="2400" b="1">
                <a:latin typeface="Times New Roman"/>
                <a:cs typeface="Times New Roman"/>
              </a:rPr>
              <a:t>()</a:t>
            </a:r>
            <a:r>
              <a:rPr lang="en-US" sz="2400">
                <a:latin typeface="Times New Roman"/>
                <a:cs typeface="Times New Roman"/>
              </a:rPr>
              <a:t>: A boundary check that ends the game instantly if the snake's head hits the edge of the grid. </a:t>
            </a:r>
            <a:endParaRPr/>
          </a:p>
          <a:p>
            <a:pPr>
              <a:buFont typeface="Arial"/>
              <a:buChar char="•"/>
              <a:defRPr/>
            </a:pPr>
            <a:r>
              <a:rPr lang="en-US" sz="2400" b="1">
                <a:latin typeface="Times New Roman"/>
                <a:cs typeface="Times New Roman"/>
              </a:rPr>
              <a:t>_</a:t>
            </a:r>
            <a:r>
              <a:rPr lang="en-US" sz="2400" b="1">
                <a:latin typeface="Times New Roman"/>
                <a:cs typeface="Times New Roman"/>
              </a:rPr>
              <a:t>spawn_apple</a:t>
            </a:r>
            <a:r>
              <a:rPr lang="en-US" sz="2400" b="1">
                <a:latin typeface="Times New Roman"/>
                <a:cs typeface="Times New Roman"/>
              </a:rPr>
              <a:t>()</a:t>
            </a:r>
            <a:r>
              <a:rPr lang="en-US" sz="2400">
                <a:latin typeface="Times New Roman"/>
                <a:cs typeface="Times New Roman"/>
              </a:rPr>
              <a:t>: scans for empty spaces to ensure new apples don't appear inside walls or the snake's body. </a:t>
            </a:r>
            <a:endParaRPr/>
          </a:p>
          <a:p>
            <a:pPr>
              <a:buFont typeface="Arial"/>
              <a:buChar char="•"/>
              <a:defRPr/>
            </a:pPr>
            <a:r>
              <a:rPr lang="en-US" sz="2400" b="1">
                <a:latin typeface="Times New Roman"/>
                <a:cs typeface="Times New Roman"/>
              </a:rPr>
              <a:t>stdscr.timeout</a:t>
            </a:r>
            <a:r>
              <a:rPr lang="en-US" sz="2400" b="1">
                <a:latin typeface="Times New Roman"/>
                <a:cs typeface="Times New Roman"/>
              </a:rPr>
              <a:t>()</a:t>
            </a:r>
            <a:r>
              <a:rPr lang="en-US" sz="2400">
                <a:latin typeface="Times New Roman"/>
                <a:cs typeface="Times New Roman"/>
              </a:rPr>
              <a:t>: Sets the </a:t>
            </a:r>
            <a:r>
              <a:rPr lang="en-US" sz="2400" b="1">
                <a:latin typeface="Times New Roman"/>
                <a:cs typeface="Times New Roman"/>
              </a:rPr>
              <a:t>game speed</a:t>
            </a:r>
            <a:r>
              <a:rPr lang="en-US" sz="2400">
                <a:latin typeface="Times New Roman"/>
                <a:cs typeface="Times New Roman"/>
              </a:rPr>
              <a:t> (0.12s), which determines how fast the snake moves and how often the screen refreshes. </a:t>
            </a:r>
            <a:endParaRPr/>
          </a:p>
          <a:p>
            <a:pPr>
              <a:defRPr/>
            </a:pPr>
            <a:endParaRPr lang="en-US"/>
          </a:p>
        </p:txBody>
      </p:sp>
      <p:pic>
        <p:nvPicPr>
          <p:cNvPr id="119323750" name="Picture 4" descr="A computer screen shot of a white rectangle&#10;&#10;Description automatically generated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896100" y="2836264"/>
            <a:ext cx="5283200" cy="207863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3144620" name="Title 1"/>
          <p:cNvSpPr>
            <a:spLocks noGrp="1"/>
          </p:cNvSpPr>
          <p:nvPr>
            <p:ph type="title"/>
          </p:nvPr>
        </p:nvSpPr>
        <p:spPr bwMode="auto">
          <a:xfrm>
            <a:off x="720273" y="-168576"/>
            <a:ext cx="10131425" cy="1456267"/>
          </a:xfrm>
        </p:spPr>
        <p:txBody>
          <a:bodyPr>
            <a:normAutofit/>
          </a:bodyPr>
          <a:lstStyle/>
          <a:p>
            <a:pPr algn="ctr">
              <a:defRPr/>
            </a:pPr>
            <a:r>
              <a:rPr lang="en-US" sz="5400" b="1">
                <a:latin typeface="Times New Roman"/>
                <a:cs typeface="Times New Roman"/>
              </a:rPr>
              <a:t>Game 5: Pacman chase</a:t>
            </a:r>
            <a:endParaRPr/>
          </a:p>
        </p:txBody>
      </p:sp>
      <p:sp>
        <p:nvSpPr>
          <p:cNvPr id="483529255" name="Content Placeholder 2"/>
          <p:cNvSpPr>
            <a:spLocks noGrp="1"/>
          </p:cNvSpPr>
          <p:nvPr>
            <p:ph idx="1"/>
          </p:nvPr>
        </p:nvSpPr>
        <p:spPr bwMode="auto">
          <a:xfrm>
            <a:off x="178416" y="1208560"/>
            <a:ext cx="6612177" cy="5208643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sz="2000" b="1">
                <a:latin typeface="Times New Roman"/>
                <a:cs typeface="Times New Roman"/>
              </a:rPr>
              <a:t>Purpose:</a:t>
            </a:r>
            <a:r>
              <a:rPr lang="en-US" sz="2000">
                <a:latin typeface="Times New Roman"/>
                <a:cs typeface="Times New Roman"/>
              </a:rPr>
              <a:t> The technical centerpiece. It demonstrates real-time hardware interaction, collision detection, and automated enemy intelligence.</a:t>
            </a:r>
            <a:endParaRPr/>
          </a:p>
          <a:p>
            <a:pPr>
              <a:defRPr/>
            </a:pPr>
            <a:r>
              <a:rPr lang="en-US" sz="2000" b="1">
                <a:latin typeface="Times New Roman"/>
                <a:cs typeface="Times New Roman"/>
              </a:rPr>
              <a:t>Python Functions &amp; Logic:</a:t>
            </a:r>
            <a:endParaRPr lang="en-US" sz="2000">
              <a:latin typeface="Times New Roman"/>
              <a:cs typeface="Times New Roman"/>
            </a:endParaRPr>
          </a:p>
          <a:p>
            <a:pPr>
              <a:buFont typeface="Arial"/>
              <a:buChar char="•"/>
              <a:defRPr/>
            </a:pPr>
            <a:r>
              <a:rPr lang="en-US" sz="2000">
                <a:latin typeface="Times New Roman"/>
                <a:cs typeface="Times New Roman"/>
              </a:rPr>
              <a:t>curses.initscr</a:t>
            </a:r>
            <a:r>
              <a:rPr lang="en-US" sz="2000">
                <a:latin typeface="Times New Roman"/>
                <a:cs typeface="Times New Roman"/>
              </a:rPr>
              <a:t>(): Initializes the terminal into "window mode" to allow for coordinate-based graphics rather than scrolling text.</a:t>
            </a:r>
            <a:endParaRPr/>
          </a:p>
          <a:p>
            <a:pPr>
              <a:buFont typeface="Arial"/>
              <a:buChar char="•"/>
              <a:defRPr/>
            </a:pPr>
            <a:r>
              <a:rPr lang="en-US" sz="2000" b="1">
                <a:latin typeface="Times New Roman"/>
                <a:cs typeface="Times New Roman"/>
              </a:rPr>
              <a:t>BFS Algorithm (Breadth-First Search):</a:t>
            </a:r>
            <a:r>
              <a:rPr lang="en-US" sz="2000">
                <a:latin typeface="Times New Roman"/>
                <a:cs typeface="Times New Roman"/>
              </a:rPr>
              <a:t> A custom function that calculates the shortest path from the ghost to the player's coordinates through the maze.</a:t>
            </a:r>
            <a:endParaRPr/>
          </a:p>
          <a:p>
            <a:pPr>
              <a:buFont typeface="Arial"/>
              <a:buChar char="•"/>
              <a:defRPr/>
            </a:pPr>
            <a:r>
              <a:rPr lang="en-US" sz="2000">
                <a:latin typeface="Times New Roman"/>
                <a:cs typeface="Times New Roman"/>
              </a:rPr>
              <a:t>stdscr.nodelay</a:t>
            </a:r>
            <a:r>
              <a:rPr lang="en-US" sz="2000">
                <a:latin typeface="Times New Roman"/>
                <a:cs typeface="Times New Roman"/>
              </a:rPr>
              <a:t>(True): Sets the terminal to "non-blocking" mode, allowing the game loop (and ghosts) to keep moving even if no key is pressed.</a:t>
            </a:r>
            <a:endParaRPr/>
          </a:p>
          <a:p>
            <a:pPr>
              <a:buFont typeface="Arial"/>
              <a:buChar char="•"/>
              <a:defRPr/>
            </a:pPr>
            <a:r>
              <a:rPr lang="en-US" sz="2000">
                <a:latin typeface="Times New Roman"/>
                <a:cs typeface="Times New Roman"/>
              </a:rPr>
              <a:t>stdscr.getch</a:t>
            </a:r>
            <a:r>
              <a:rPr lang="en-US" sz="2000">
                <a:latin typeface="Times New Roman"/>
                <a:cs typeface="Times New Roman"/>
              </a:rPr>
              <a:t>(): Captures real-time keyboard hits (Arrow keys) to update the player's X and Y coordinates on the grid.</a:t>
            </a:r>
            <a:endParaRPr/>
          </a:p>
        </p:txBody>
      </p:sp>
      <p:pic>
        <p:nvPicPr>
          <p:cNvPr id="194369028" name="Picture 4" descr="A screenshot of a video game&#10;&#10;Description automatically generated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946900" y="1287691"/>
            <a:ext cx="4775200" cy="46632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1893274" name="Content Placeholder 2"/>
          <p:cNvSpPr>
            <a:spLocks noGrp="1"/>
          </p:cNvSpPr>
          <p:nvPr>
            <p:ph idx="1"/>
          </p:nvPr>
        </p:nvSpPr>
        <p:spPr bwMode="auto">
          <a:xfrm>
            <a:off x="884710" y="-131927"/>
            <a:ext cx="10131425" cy="1567542"/>
          </a:xfrm>
        </p:spPr>
        <p:txBody>
          <a:bodyPr>
            <a:normAutofit/>
          </a:bodyPr>
          <a:lstStyle/>
          <a:p>
            <a:pPr marL="0" indent="0" algn="ctr">
              <a:buNone/>
              <a:defRPr/>
            </a:pPr>
            <a:r>
              <a:rPr lang="en-US" sz="5400" b="1">
                <a:latin typeface="Times New Roman"/>
                <a:cs typeface="Times New Roman"/>
              </a:rPr>
              <a:t>How to Play</a:t>
            </a:r>
            <a:endParaRPr/>
          </a:p>
        </p:txBody>
      </p:sp>
      <p:sp>
        <p:nvSpPr>
          <p:cNvPr id="343997799" name="TextBox 3"/>
          <p:cNvSpPr txBox="1"/>
          <p:nvPr/>
        </p:nvSpPr>
        <p:spPr bwMode="auto">
          <a:xfrm>
            <a:off x="1030287" y="1212456"/>
            <a:ext cx="1014548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  <a:defRPr/>
            </a:pPr>
            <a:r>
              <a:rPr lang="en-US" sz="2400">
                <a:latin typeface="Times New Roman"/>
                <a:cs typeface="Times New Roman"/>
              </a:rPr>
              <a:t>Ensure that all raspberry </a:t>
            </a:r>
            <a:r>
              <a:rPr lang="en-US" sz="2400">
                <a:latin typeface="Times New Roman"/>
                <a:cs typeface="Times New Roman"/>
              </a:rPr>
              <a:t>pis</a:t>
            </a:r>
            <a:r>
              <a:rPr lang="en-US" sz="2400">
                <a:latin typeface="Times New Roman"/>
                <a:cs typeface="Times New Roman"/>
              </a:rPr>
              <a:t> are on the same network and that python is installed on hardware</a:t>
            </a:r>
            <a:endParaRPr/>
          </a:p>
          <a:p>
            <a:pPr marL="342900" indent="-342900">
              <a:buFont typeface="+mj-lt"/>
              <a:buAutoNum type="arabicPeriod"/>
              <a:defRPr/>
            </a:pPr>
            <a:r>
              <a:rPr lang="en-US" sz="2400">
                <a:latin typeface="Times New Roman"/>
                <a:cs typeface="Times New Roman"/>
              </a:rPr>
              <a:t> Launch the game (host): open the terminal and navigate to the game folder</a:t>
            </a:r>
            <a:endParaRPr/>
          </a:p>
          <a:p>
            <a:pPr marL="342900" indent="-342900">
              <a:buFont typeface="+mj-lt"/>
              <a:buAutoNum type="arabicPeriod"/>
              <a:defRPr/>
            </a:pPr>
            <a:r>
              <a:rPr lang="en-US" sz="2400">
                <a:latin typeface="Times New Roman"/>
                <a:cs typeface="Times New Roman"/>
              </a:rPr>
              <a:t> launch the game (player): open the terminal and navigate to the game folder. When prompted type the host’s IP address to join the game.</a:t>
            </a:r>
            <a:endParaRPr/>
          </a:p>
          <a:p>
            <a:pPr marL="342900" indent="-342900">
              <a:buFont typeface="+mj-lt"/>
              <a:buAutoNum type="arabicPeriod"/>
              <a:defRPr/>
            </a:pPr>
            <a:r>
              <a:rPr lang="en-US" sz="2400">
                <a:latin typeface="Times New Roman"/>
                <a:cs typeface="Times New Roman"/>
              </a:rPr>
              <a:t> </a:t>
            </a:r>
            <a:endParaRPr/>
          </a:p>
        </p:txBody>
      </p:sp>
      <p:pic>
        <p:nvPicPr>
          <p:cNvPr id="1242583912" name="Picture 5" descr="A screenshot of a computer&#10;&#10;Description automatically generated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465167" y="3207631"/>
            <a:ext cx="7772400" cy="1725735"/>
          </a:xfrm>
          <a:prstGeom prst="rect">
            <a:avLst/>
          </a:prstGeom>
        </p:spPr>
      </p:pic>
      <p:sp>
        <p:nvSpPr>
          <p:cNvPr id="1338763318" name="TextBox 6"/>
          <p:cNvSpPr txBox="1"/>
          <p:nvPr/>
        </p:nvSpPr>
        <p:spPr bwMode="auto">
          <a:xfrm>
            <a:off x="968741" y="4933366"/>
            <a:ext cx="95261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r>
              <a:rPr lang="en-US" sz="2400">
                <a:latin typeface="Times New Roman"/>
                <a:cs typeface="Times New Roman"/>
              </a:rPr>
              <a:t>5. Let’s play!</a:t>
            </a:r>
            <a:endParaRPr/>
          </a:p>
        </p:txBody>
      </p:sp>
      <p:pic>
        <p:nvPicPr>
          <p:cNvPr id="1536919913" name="Picture 5" descr="A screenshot of a computer&#10;&#10;Description automatically generated"/>
          <p:cNvPicPr>
            <a:picLocks noChangeAspect="1"/>
          </p:cNvPicPr>
          <p:nvPr/>
        </p:nvPicPr>
        <p:blipFill rotWithShape="1">
          <a:blip r:embed="rId3"/>
          <a:srcRect l="74555" t="81295" r="1752" b="3996"/>
          <a:stretch/>
        </p:blipFill>
        <p:spPr bwMode="auto">
          <a:xfrm flipH="0" flipV="0">
            <a:off x="5731809" y="4260440"/>
            <a:ext cx="2515047" cy="253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Relationship Id="rId1" Type="http://schemas.openxmlformats.org/officeDocument/2006/relationships/image" Target="../media/image1.jpg"/></Relationships>
</file>

<file path=ppt/theme/_rels/theme2.xml.rels><?xml version="1.0" encoding="UTF-8" standalone="yes"?><Relationships xmlns="http://schemas.openxmlformats.org/package/2006/relationships"><Relationship Id="rId1" Type="http://schemas.openxmlformats.org/officeDocument/2006/relationships/image" Target="../media/image1.jpg"/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6476F"/>
      </a:dk2>
      <a:lt2>
        <a:srgbClr val="EBEBEB"/>
      </a:lt2>
      <a:accent1>
        <a:srgbClr val="E5B458"/>
      </a:accent1>
      <a:accent2>
        <a:srgbClr val="F77754"/>
      </a:accent2>
      <a:accent3>
        <a:srgbClr val="D8507E"/>
      </a:accent3>
      <a:accent4>
        <a:srgbClr val="BC70EE"/>
      </a:accent4>
      <a:accent5>
        <a:srgbClr val="3CA2E2"/>
      </a:accent5>
      <a:accent6>
        <a:srgbClr val="91BF77"/>
      </a:accent6>
      <a:hlink>
        <a:srgbClr val="71DDAB"/>
      </a:hlink>
      <a:folHlink>
        <a:srgbClr val="A6E4C7"/>
      </a:folHlink>
    </a:clrScheme>
    <a:fontScheme name="Celestial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Celestial">
      <a:fillStyleLst>
        <a:solidFill>
          <a:schemeClr val="phClr"/>
        </a:solidFill>
        <a:gradFill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 rotWithShape="1">
          <a:blip r:embed="rId1"/>
          <a:stretch/>
        </a:blip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6476F"/>
      </a:dk2>
      <a:lt2>
        <a:srgbClr val="EBEBEB"/>
      </a:lt2>
      <a:accent1>
        <a:srgbClr val="E5B458"/>
      </a:accent1>
      <a:accent2>
        <a:srgbClr val="F77754"/>
      </a:accent2>
      <a:accent3>
        <a:srgbClr val="D8507E"/>
      </a:accent3>
      <a:accent4>
        <a:srgbClr val="BC70EE"/>
      </a:accent4>
      <a:accent5>
        <a:srgbClr val="3CA2E2"/>
      </a:accent5>
      <a:accent6>
        <a:srgbClr val="91BF77"/>
      </a:accent6>
      <a:hlink>
        <a:srgbClr val="71DDAB"/>
      </a:hlink>
      <a:folHlink>
        <a:srgbClr val="A6E4C7"/>
      </a:folHlink>
    </a:clrScheme>
    <a:fontScheme name="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Celestial">
      <a:fillStyleLst>
        <a:solidFill>
          <a:schemeClr val="phClr"/>
        </a:solidFill>
        <a:gradFill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 rotWithShape="1">
          <a:blip r:embed="rId1"/>
          <a:stretch/>
        </a:blip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Celestial</Template>
  <TotalTime>0</TotalTime>
  <Words>0</Words>
  <Application>ONLYOFFICE/9.3.1.8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Gabrielle Panuelos</dc:creator>
  <cp:lastModifiedBy/>
  <cp:revision>6</cp:revision>
  <dcterms:created xsi:type="dcterms:W3CDTF">2026-04-28T13:36:38Z</dcterms:created>
  <dcterms:modified xsi:type="dcterms:W3CDTF">2026-05-06T01:15:38Z</dcterms:modified>
</cp:coreProperties>
</file>