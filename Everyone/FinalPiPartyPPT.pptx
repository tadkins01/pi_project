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930"/>
    <p:restoredTop sz="94710"/>
  </p:normalViewPr>
  <p:slideViewPr>
    <p:cSldViewPr snapToGrid="0">
      <p:cViewPr>
        <p:scale>
          <a:sx n="100" d="100"/>
          <a:sy n="100" d="100"/>
        </p:scale>
        <p:origin x="1344" y="1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11A6662E-FAF4-44BC-88B5-85A7CBFB6D30}" type="datetime1">
              <a:rPr lang="en-US" smtClean="0"/>
              <a:pPr/>
              <a:t>4/30/26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5006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4/30/26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486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7D9E-721A-44BB-8863-9873FE64DA75}" type="datetime1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451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722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4/30/26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808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4/30/26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964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4/30/26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270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56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89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4/30/26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98842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4/30/26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26274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4/30/26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91318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4/30/26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71912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4/30/26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40738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4/30/26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99469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7566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84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7E0CF6C-748E-4B7A-BC8B-3011EF78ED13}" type="datetime1">
              <a:rPr lang="en-US" smtClean="0"/>
              <a:pPr/>
              <a:t>4/30/26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469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  <p:sldLayoutId id="2147483792" r:id="rId12"/>
    <p:sldLayoutId id="2147483793" r:id="rId13"/>
    <p:sldLayoutId id="2147483794" r:id="rId14"/>
    <p:sldLayoutId id="2147483795" r:id="rId15"/>
    <p:sldLayoutId id="2147483796" r:id="rId16"/>
    <p:sldLayoutId id="214748379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1045E83-A766-02D7-C66B-8309A51192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931" y="5255343"/>
            <a:ext cx="10905069" cy="501994"/>
          </a:xfrm>
        </p:spPr>
        <p:txBody>
          <a:bodyPr>
            <a:normAutofit lnSpcReduction="10000"/>
          </a:bodyPr>
          <a:lstStyle/>
          <a:p>
            <a:r>
              <a:rPr lang="en-US" sz="2800" dirty="0">
                <a:latin typeface="LEMON MILK Medium" pitchFamily="2" charset="77"/>
              </a:rPr>
              <a:t>Gabrielle , Micah , Thomas, and Izaiah </a:t>
            </a:r>
          </a:p>
        </p:txBody>
      </p:sp>
      <p:pic>
        <p:nvPicPr>
          <p:cNvPr id="8" name="Picture 7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F0D14F32-2B60-53C7-7E46-D383DB4D6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43563"/>
            <a:ext cx="12203246" cy="3691481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92916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391C7-B68F-C63B-4634-B22A21B93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128" y="0"/>
            <a:ext cx="10131425" cy="1456267"/>
          </a:xfrm>
        </p:spPr>
        <p:txBody>
          <a:bodyPr/>
          <a:lstStyle/>
          <a:p>
            <a:pPr algn="ctr"/>
            <a:r>
              <a:rPr lang="en-US" dirty="0">
                <a:latin typeface="LEMON MILK Medium" pitchFamily="2" charset="77"/>
              </a:rPr>
              <a:t>How the system operates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396DC-2FB0-A957-1E7D-7A1C60E46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187355"/>
            <a:ext cx="10710080" cy="5363570"/>
          </a:xfrm>
        </p:spPr>
        <p:txBody>
          <a:bodyPr>
            <a:normAutofit fontScale="92500"/>
          </a:bodyPr>
          <a:lstStyle/>
          <a:p>
            <a:r>
              <a:rPr lang="en-US" sz="2000" b="1" dirty="0">
                <a:latin typeface="LEMON MILK Medium" pitchFamily="2" charset="77"/>
              </a:rPr>
              <a:t>Client-Server Architecture:</a:t>
            </a:r>
            <a:r>
              <a:rPr lang="en-US" sz="2000" dirty="0">
                <a:latin typeface="LEMON MILK Medium" pitchFamily="2" charset="77"/>
              </a:rPr>
              <a:t> One Raspberry Pi acts as the </a:t>
            </a:r>
            <a:r>
              <a:rPr lang="en-US" sz="2000" b="1" dirty="0">
                <a:latin typeface="LEMON MILK Medium" pitchFamily="2" charset="77"/>
              </a:rPr>
              <a:t>Host</a:t>
            </a:r>
            <a:r>
              <a:rPr lang="en-US" sz="2000" dirty="0">
                <a:latin typeface="LEMON MILK Medium" pitchFamily="2" charset="77"/>
              </a:rPr>
              <a:t> (the brain), while all other </a:t>
            </a:r>
            <a:r>
              <a:rPr lang="en-US" sz="2000" dirty="0" err="1">
                <a:latin typeface="LEMON MILK Medium" pitchFamily="2" charset="77"/>
              </a:rPr>
              <a:t>Pis</a:t>
            </a:r>
            <a:r>
              <a:rPr lang="en-US" sz="2000" dirty="0">
                <a:latin typeface="LEMON MILK Medium" pitchFamily="2" charset="77"/>
              </a:rPr>
              <a:t> connect as </a:t>
            </a:r>
            <a:r>
              <a:rPr lang="en-US" sz="2000" b="1" dirty="0">
                <a:latin typeface="LEMON MILK Medium" pitchFamily="2" charset="77"/>
              </a:rPr>
              <a:t>Clients</a:t>
            </a:r>
            <a:r>
              <a:rPr lang="en-US" sz="2000" dirty="0">
                <a:latin typeface="LEMON MILK Medium" pitchFamily="2" charset="77"/>
              </a:rPr>
              <a:t> (the controllers).</a:t>
            </a:r>
          </a:p>
          <a:p>
            <a:r>
              <a:rPr lang="en-US" sz="2000" b="1" dirty="0">
                <a:latin typeface="LEMON MILK Medium" pitchFamily="2" charset="77"/>
              </a:rPr>
              <a:t>Star Topology:</a:t>
            </a:r>
            <a:r>
              <a:rPr lang="en-US" sz="2000" dirty="0">
                <a:latin typeface="LEMON MILK Medium" pitchFamily="2" charset="77"/>
              </a:rPr>
              <a:t> Every player communicates directly with the Host, ensuring all participants see the exact same game state at the same time.</a:t>
            </a:r>
          </a:p>
          <a:p>
            <a:r>
              <a:rPr lang="en-US" sz="2000" b="1" dirty="0">
                <a:latin typeface="LEMON MILK Medium" pitchFamily="2" charset="77"/>
              </a:rPr>
              <a:t>TCP/IP Networking:</a:t>
            </a:r>
            <a:r>
              <a:rPr lang="en-US" sz="2000" dirty="0">
                <a:latin typeface="LEMON MILK Medium" pitchFamily="2" charset="77"/>
              </a:rPr>
              <a:t> Uses "Transmission Control Protocol" to ensure game data (like moves and scores) arrives reliably and in the correct order across the local network.</a:t>
            </a:r>
          </a:p>
          <a:p>
            <a:r>
              <a:rPr lang="en-US" sz="2000" b="1" dirty="0">
                <a:latin typeface="LEMON MILK Medium" pitchFamily="2" charset="77"/>
              </a:rPr>
              <a:t>Terminal Rendering:</a:t>
            </a:r>
            <a:r>
              <a:rPr lang="en-US" sz="2000" dirty="0">
                <a:latin typeface="LEMON MILK Medium" pitchFamily="2" charset="77"/>
              </a:rPr>
              <a:t> Instead of heavy graphics, the system uses the </a:t>
            </a:r>
            <a:r>
              <a:rPr lang="en-US" sz="2000" b="1" dirty="0">
                <a:latin typeface="LEMON MILK Medium" pitchFamily="2" charset="77"/>
              </a:rPr>
              <a:t>Curses library</a:t>
            </a:r>
            <a:r>
              <a:rPr lang="en-US" sz="2000" dirty="0">
                <a:latin typeface="LEMON MILK Medium" pitchFamily="2" charset="77"/>
              </a:rPr>
              <a:t> to "draw" game boards and animations using text characters and colors.</a:t>
            </a:r>
          </a:p>
          <a:p>
            <a:r>
              <a:rPr lang="en-US" sz="2000" b="1" dirty="0">
                <a:latin typeface="LEMON MILK Medium" pitchFamily="2" charset="77"/>
              </a:rPr>
              <a:t>Non-Blocking Input:</a:t>
            </a:r>
            <a:r>
              <a:rPr lang="en-US" sz="2000" dirty="0">
                <a:latin typeface="LEMON MILK Medium" pitchFamily="2" charset="77"/>
              </a:rPr>
              <a:t> The system is programmed to keep the game moving (like ghosts chasing you) even if a player isn't pressing any buttons.</a:t>
            </a:r>
          </a:p>
          <a:p>
            <a:r>
              <a:rPr lang="en-US" sz="2000" b="1" dirty="0">
                <a:effectLst/>
                <a:latin typeface="LEMON MILK Medium" pitchFamily="2" charset="77"/>
              </a:rPr>
              <a:t>Automated Logic:</a:t>
            </a:r>
            <a:r>
              <a:rPr lang="en-US" sz="2000" dirty="0">
                <a:effectLst/>
                <a:latin typeface="LEMON MILK Medium" pitchFamily="2" charset="77"/>
              </a:rPr>
              <a:t> The Host runs pathfinding algorithms (BFS) for enemies, ensuring the game provides a consistent challenge for all connected players.</a:t>
            </a:r>
          </a:p>
        </p:txBody>
      </p:sp>
    </p:spTree>
    <p:extLst>
      <p:ext uri="{BB962C8B-B14F-4D97-AF65-F5344CB8AC3E}">
        <p14:creationId xmlns:p14="http://schemas.microsoft.com/office/powerpoint/2010/main" val="3756271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86E57-55B8-C0A1-DAFE-C2F25BA04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813" y="0"/>
            <a:ext cx="10131425" cy="1456267"/>
          </a:xfrm>
        </p:spPr>
        <p:txBody>
          <a:bodyPr/>
          <a:lstStyle/>
          <a:p>
            <a:pPr algn="ctr"/>
            <a:r>
              <a:rPr lang="en-US" dirty="0">
                <a:latin typeface="LEMON MILK Medium" pitchFamily="2" charset="77"/>
              </a:rPr>
              <a:t>Game 1: Heads or 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391B9-889A-8D08-9198-6651E9FC3D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309" y="1227667"/>
            <a:ext cx="6325856" cy="5323258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LEMON MILK Medium" pitchFamily="2" charset="77"/>
              </a:rPr>
              <a:t>Purpose:</a:t>
            </a:r>
            <a:r>
              <a:rPr lang="en-US" sz="2000" dirty="0">
                <a:latin typeface="LEMON MILK Medium" pitchFamily="2" charset="77"/>
              </a:rPr>
              <a:t> A quick-fire test of the network's ability to handle rapid-response binary choices and synchronized resolution.</a:t>
            </a:r>
          </a:p>
          <a:p>
            <a:r>
              <a:rPr lang="en-US" sz="2000" b="1" dirty="0">
                <a:latin typeface="LEMON MILK Medium" pitchFamily="2" charset="77"/>
              </a:rPr>
              <a:t>Python Functions &amp; Logic:</a:t>
            </a:r>
            <a:endParaRPr lang="en-US" sz="2000" dirty="0">
              <a:latin typeface="LEMON MILK Medium" pitchFamily="2" charset="7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err="1">
                <a:latin typeface="LEMON MILK Medium" pitchFamily="2" charset="77"/>
              </a:rPr>
              <a:t>random.choice</a:t>
            </a:r>
            <a:r>
              <a:rPr lang="en-US" sz="2000" dirty="0">
                <a:latin typeface="LEMON MILK Medium" pitchFamily="2" charset="77"/>
              </a:rPr>
              <a:t>(['Heads', 'Tails']): Used by the server to determine the winning outcome.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LEMON MILK Medium" pitchFamily="2" charset="77"/>
              </a:rPr>
              <a:t>input().strip().upper(): Captures the player's choice and cleans the data before sending.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err="1">
                <a:latin typeface="LEMON MILK Medium" pitchFamily="2" charset="77"/>
              </a:rPr>
              <a:t>send_data</a:t>
            </a:r>
            <a:r>
              <a:rPr lang="en-US" sz="2000" dirty="0">
                <a:latin typeface="LEMON MILK Medium" pitchFamily="2" charset="77"/>
              </a:rPr>
              <a:t>() / </a:t>
            </a:r>
            <a:r>
              <a:rPr lang="en-US" sz="2000" dirty="0" err="1">
                <a:latin typeface="LEMON MILK Medium" pitchFamily="2" charset="77"/>
              </a:rPr>
              <a:t>recv_data</a:t>
            </a:r>
            <a:r>
              <a:rPr lang="en-US" sz="2000" dirty="0">
                <a:latin typeface="LEMON MILK Medium" pitchFamily="2" charset="77"/>
              </a:rPr>
              <a:t>(): Custom wrapper functions for </a:t>
            </a:r>
            <a:r>
              <a:rPr lang="en-US" sz="2000" dirty="0" err="1">
                <a:latin typeface="LEMON MILK Medium" pitchFamily="2" charset="77"/>
              </a:rPr>
              <a:t>socket.send</a:t>
            </a:r>
            <a:r>
              <a:rPr lang="en-US" sz="2000" dirty="0">
                <a:latin typeface="LEMON MILK Medium" pitchFamily="2" charset="77"/>
              </a:rPr>
              <a:t>() and </a:t>
            </a:r>
            <a:r>
              <a:rPr lang="en-US" sz="2000" dirty="0" err="1">
                <a:latin typeface="LEMON MILK Medium" pitchFamily="2" charset="77"/>
              </a:rPr>
              <a:t>socket.recv</a:t>
            </a:r>
            <a:r>
              <a:rPr lang="en-US" sz="2000" dirty="0">
                <a:latin typeface="LEMON MILK Medium" pitchFamily="2" charset="77"/>
              </a:rPr>
              <a:t>() to exchange JSON packets between the Pi and the Host.</a:t>
            </a:r>
          </a:p>
        </p:txBody>
      </p:sp>
      <p:pic>
        <p:nvPicPr>
          <p:cNvPr id="5" name="Picture 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CDCA99C4-831A-67B6-AA1E-0E2016A23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165" y="2038349"/>
            <a:ext cx="5279526" cy="341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58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62EAB-D3DB-4FB2-0244-B94A8DEDB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287" y="0"/>
            <a:ext cx="10131425" cy="1456267"/>
          </a:xfrm>
        </p:spPr>
        <p:txBody>
          <a:bodyPr/>
          <a:lstStyle/>
          <a:p>
            <a:pPr algn="ctr"/>
            <a:r>
              <a:rPr lang="en-US" dirty="0">
                <a:latin typeface="LEMON MILK Medium" pitchFamily="2" charset="77"/>
              </a:rPr>
              <a:t>Game 2: Rock, Paper, Scissors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F541E-271E-0724-1931-86212C046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307" y="1241947"/>
            <a:ext cx="6667051" cy="5322626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LEMON MILK Medium" pitchFamily="2" charset="77"/>
              </a:rPr>
              <a:t>Purpose:</a:t>
            </a:r>
            <a:r>
              <a:rPr lang="en-US" sz="2000" dirty="0">
                <a:latin typeface="LEMON MILK Medium" pitchFamily="2" charset="77"/>
              </a:rPr>
              <a:t> Demonstrates server-side logic validation where the Host must compare multiple client inputs against a central "AI" move.</a:t>
            </a:r>
          </a:p>
          <a:p>
            <a:r>
              <a:rPr lang="en-US" sz="2000" b="1" dirty="0">
                <a:latin typeface="LEMON MILK Medium" pitchFamily="2" charset="77"/>
              </a:rPr>
              <a:t>Python Functions &amp; Logic:</a:t>
            </a:r>
            <a:endParaRPr lang="en-US" sz="2000" dirty="0">
              <a:latin typeface="LEMON MILK Medium" pitchFamily="2" charset="7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LEMON MILK Medium" pitchFamily="2" charset="77"/>
              </a:rPr>
              <a:t>Logic Mapping:</a:t>
            </a:r>
            <a:r>
              <a:rPr lang="en-US" sz="2000" dirty="0">
                <a:latin typeface="LEMON MILK Medium" pitchFamily="2" charset="77"/>
              </a:rPr>
              <a:t> Uses a Dictionary or Nested if/</a:t>
            </a:r>
            <a:r>
              <a:rPr lang="en-US" sz="2000" dirty="0" err="1">
                <a:latin typeface="LEMON MILK Medium" pitchFamily="2" charset="77"/>
              </a:rPr>
              <a:t>elif</a:t>
            </a:r>
            <a:r>
              <a:rPr lang="en-US" sz="2000" dirty="0">
                <a:latin typeface="LEMON MILK Medium" pitchFamily="2" charset="77"/>
              </a:rPr>
              <a:t> statements to define win/loss/tie conditions (e.g., if user == 'R' and computer == 'S').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err="1">
                <a:latin typeface="LEMON MILK Medium" pitchFamily="2" charset="77"/>
              </a:rPr>
              <a:t>time.sleep</a:t>
            </a:r>
            <a:r>
              <a:rPr lang="en-US" sz="2000" dirty="0">
                <a:latin typeface="LEMON MILK Medium" pitchFamily="2" charset="77"/>
              </a:rPr>
              <a:t>(): Orchestrates the "Rock... Paper... Scissors... Shoot!" countdown across all connected terminals.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err="1">
                <a:latin typeface="LEMON MILK Medium" pitchFamily="2" charset="77"/>
              </a:rPr>
              <a:t>json.dumps</a:t>
            </a:r>
            <a:r>
              <a:rPr lang="en-US" sz="2000" dirty="0">
                <a:latin typeface="LEMON MILK Medium" pitchFamily="2" charset="77"/>
              </a:rPr>
              <a:t>(): Converts the player's move into a string format that can be transmitted over the TCP socket.</a:t>
            </a:r>
          </a:p>
        </p:txBody>
      </p:sp>
      <p:pic>
        <p:nvPicPr>
          <p:cNvPr id="7" name="Picture 6" descr="A screen shot of a computer screen&#10;&#10;Description automatically generated">
            <a:extLst>
              <a:ext uri="{FF2B5EF4-FFF2-40B4-BE49-F238E27FC236}">
                <a16:creationId xmlns:a16="http://schemas.microsoft.com/office/drawing/2014/main" id="{EEC98F09-1A56-EEC7-538F-6E458F67C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814" y="2417229"/>
            <a:ext cx="5325997" cy="2627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527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42326-DBAC-BF29-1836-A87FB0EBB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984" y="0"/>
            <a:ext cx="10131425" cy="1456267"/>
          </a:xfrm>
        </p:spPr>
        <p:txBody>
          <a:bodyPr/>
          <a:lstStyle/>
          <a:p>
            <a:pPr algn="ctr"/>
            <a:r>
              <a:rPr lang="en-US" dirty="0">
                <a:latin typeface="LEMON MILK Medium" pitchFamily="2" charset="77"/>
              </a:rPr>
              <a:t>Game 3: Number Guessing 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EF74D-BDF3-8191-70E1-93C5FFCAC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143" y="1357952"/>
            <a:ext cx="5837828" cy="5500048"/>
          </a:xfrm>
        </p:spPr>
        <p:txBody>
          <a:bodyPr>
            <a:normAutofit lnSpcReduction="10000"/>
          </a:bodyPr>
          <a:lstStyle/>
          <a:p>
            <a:r>
              <a:rPr lang="en-US" sz="2000" b="1" dirty="0">
                <a:latin typeface="LEMON MILK Medium" pitchFamily="2" charset="77"/>
              </a:rPr>
              <a:t>Purpose:</a:t>
            </a:r>
            <a:r>
              <a:rPr lang="en-US" sz="2000" dirty="0">
                <a:latin typeface="LEMON MILK Medium" pitchFamily="2" charset="77"/>
              </a:rPr>
              <a:t> Showcases mathematical processing and "Shortest Distance" algorithms to determine a winner among multiple participants.</a:t>
            </a:r>
          </a:p>
          <a:p>
            <a:r>
              <a:rPr lang="en-US" sz="2000" b="1" dirty="0">
                <a:latin typeface="LEMON MILK Medium" pitchFamily="2" charset="77"/>
              </a:rPr>
              <a:t>Python Functions &amp; Logic:</a:t>
            </a:r>
            <a:endParaRPr lang="en-US" sz="2000" dirty="0">
              <a:latin typeface="LEMON MILK Medium" pitchFamily="2" charset="7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err="1">
                <a:latin typeface="LEMON MILK Medium" pitchFamily="2" charset="77"/>
              </a:rPr>
              <a:t>random.randint</a:t>
            </a:r>
            <a:r>
              <a:rPr lang="en-US" sz="2000" dirty="0">
                <a:latin typeface="LEMON MILK Medium" pitchFamily="2" charset="77"/>
              </a:rPr>
              <a:t>(1, 100): Generates the secret target number on the Host machine.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LEMON MILK Medium" pitchFamily="2" charset="77"/>
              </a:rPr>
              <a:t>abs(target - guess): The </a:t>
            </a:r>
            <a:r>
              <a:rPr lang="en-US" sz="2000" b="1" dirty="0">
                <a:latin typeface="LEMON MILK Medium" pitchFamily="2" charset="77"/>
              </a:rPr>
              <a:t>Absolute Value</a:t>
            </a:r>
            <a:r>
              <a:rPr lang="en-US" sz="2000" dirty="0">
                <a:latin typeface="LEMON MILK Medium" pitchFamily="2" charset="77"/>
              </a:rPr>
              <a:t> function calculates how far each player is from the target, regardless of whether they guessed too high or too 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LEMON MILK Medium" pitchFamily="2" charset="77"/>
              </a:rPr>
              <a:t>min(): Applied to a list of player distances to identify the "closest" guess and declare the round winner.</a:t>
            </a:r>
          </a:p>
          <a:p>
            <a:endParaRPr lang="en-US" dirty="0"/>
          </a:p>
        </p:txBody>
      </p:sp>
      <p:pic>
        <p:nvPicPr>
          <p:cNvPr id="5" name="Picture 4" descr="A purple and blue text&#10;&#10;Description automatically generated">
            <a:extLst>
              <a:ext uri="{FF2B5EF4-FFF2-40B4-BE49-F238E27FC236}">
                <a16:creationId xmlns:a16="http://schemas.microsoft.com/office/drawing/2014/main" id="{599B5DC4-36C7-3F00-CB5B-2A34B95444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186" b="5626"/>
          <a:stretch/>
        </p:blipFill>
        <p:spPr>
          <a:xfrm>
            <a:off x="5759494" y="2917572"/>
            <a:ext cx="6338802" cy="1044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054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1D203-A7E3-C34F-CA74-8ADCC5ED3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-164123"/>
            <a:ext cx="10131425" cy="1456267"/>
          </a:xfrm>
        </p:spPr>
        <p:txBody>
          <a:bodyPr/>
          <a:lstStyle/>
          <a:p>
            <a:pPr algn="ctr"/>
            <a:r>
              <a:rPr lang="en-US" dirty="0">
                <a:latin typeface="LEMON MILK Medium" pitchFamily="2" charset="77"/>
              </a:rPr>
              <a:t>GAME 4: Snake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D8A19-F294-BFD1-0AD1-A6CF635D7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" y="1103272"/>
            <a:ext cx="6921500" cy="5754728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latin typeface="LEMON MILK Medium" pitchFamily="2" charset="77"/>
              </a:rPr>
              <a:t>Purpose:</a:t>
            </a:r>
            <a:r>
              <a:rPr lang="en-US" dirty="0">
                <a:latin typeface="LEMON MILK Medium" pitchFamily="2" charset="77"/>
              </a:rPr>
              <a:t> Demonstrates real-time coordination tracking and collision detection within a terminal environment. </a:t>
            </a:r>
          </a:p>
          <a:p>
            <a:r>
              <a:rPr lang="en-US" b="1" dirty="0">
                <a:effectLst/>
                <a:latin typeface="LEMON MILK Medium" pitchFamily="2" charset="77"/>
              </a:rPr>
              <a:t>Python Functions &amp; Logic:</a:t>
            </a:r>
            <a:endParaRPr lang="en-US" dirty="0">
              <a:effectLst/>
              <a:latin typeface="LEMON MILK Medium" pitchFamily="2" charset="7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>
                <a:effectLst/>
                <a:latin typeface="LEMON MILK Medium" pitchFamily="2" charset="77"/>
              </a:rPr>
              <a:t>curses.wrapper</a:t>
            </a:r>
            <a:r>
              <a:rPr lang="en-US" b="1" dirty="0">
                <a:effectLst/>
                <a:latin typeface="LEMON MILK Medium" pitchFamily="2" charset="77"/>
              </a:rPr>
              <a:t>()</a:t>
            </a:r>
            <a:r>
              <a:rPr lang="en-US" dirty="0">
                <a:effectLst/>
                <a:latin typeface="LEMON MILK Medium" pitchFamily="2" charset="77"/>
              </a:rPr>
              <a:t>: Switches the terminal into a "game window" that allows for colored graphics and exact positioning of characters.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effectLst/>
                <a:latin typeface="LEMON MILK Medium" pitchFamily="2" charset="77"/>
              </a:rPr>
              <a:t>Coordinate Management</a:t>
            </a:r>
            <a:r>
              <a:rPr lang="en-US" dirty="0">
                <a:effectLst/>
                <a:latin typeface="LEMON MILK Medium" pitchFamily="2" charset="77"/>
              </a:rPr>
              <a:t>: Stores the snake's body as a </a:t>
            </a:r>
            <a:r>
              <a:rPr lang="en-US" b="1" dirty="0">
                <a:effectLst/>
                <a:latin typeface="LEMON MILK Medium" pitchFamily="2" charset="77"/>
              </a:rPr>
              <a:t>list of (x, y) points</a:t>
            </a:r>
            <a:r>
              <a:rPr lang="en-US" dirty="0">
                <a:effectLst/>
                <a:latin typeface="LEMON MILK Medium" pitchFamily="2" charset="77"/>
              </a:rPr>
              <a:t> to track every segment on the 28 X 14 grid.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effectLst/>
                <a:latin typeface="LEMON MILK Medium" pitchFamily="2" charset="77"/>
              </a:rPr>
              <a:t>_</a:t>
            </a:r>
            <a:r>
              <a:rPr lang="en-US" b="1" dirty="0" err="1">
                <a:effectLst/>
                <a:latin typeface="LEMON MILK Medium" pitchFamily="2" charset="77"/>
              </a:rPr>
              <a:t>is_wall</a:t>
            </a:r>
            <a:r>
              <a:rPr lang="en-US" b="1" dirty="0">
                <a:effectLst/>
                <a:latin typeface="LEMON MILK Medium" pitchFamily="2" charset="77"/>
              </a:rPr>
              <a:t>()</a:t>
            </a:r>
            <a:r>
              <a:rPr lang="en-US" dirty="0">
                <a:effectLst/>
                <a:latin typeface="LEMON MILK Medium" pitchFamily="2" charset="77"/>
              </a:rPr>
              <a:t>: A boundary check that ends the game instantly if the snake's head hits the edge of the grid.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effectLst/>
                <a:latin typeface="LEMON MILK Medium" pitchFamily="2" charset="77"/>
              </a:rPr>
              <a:t>_</a:t>
            </a:r>
            <a:r>
              <a:rPr lang="en-US" b="1" dirty="0" err="1">
                <a:effectLst/>
                <a:latin typeface="LEMON MILK Medium" pitchFamily="2" charset="77"/>
              </a:rPr>
              <a:t>spawn_apple</a:t>
            </a:r>
            <a:r>
              <a:rPr lang="en-US" b="1" dirty="0">
                <a:effectLst/>
                <a:latin typeface="LEMON MILK Medium" pitchFamily="2" charset="77"/>
              </a:rPr>
              <a:t>()</a:t>
            </a:r>
            <a:r>
              <a:rPr lang="en-US" dirty="0">
                <a:effectLst/>
                <a:latin typeface="LEMON MILK Medium" pitchFamily="2" charset="77"/>
              </a:rPr>
              <a:t>: scans for empty spaces to ensure new apples don't appear inside walls or the snake's body.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>
                <a:effectLst/>
                <a:latin typeface="LEMON MILK Medium" pitchFamily="2" charset="77"/>
              </a:rPr>
              <a:t>stdscr.timeout</a:t>
            </a:r>
            <a:r>
              <a:rPr lang="en-US" b="1" dirty="0">
                <a:effectLst/>
                <a:latin typeface="LEMON MILK Medium" pitchFamily="2" charset="77"/>
              </a:rPr>
              <a:t>()</a:t>
            </a:r>
            <a:r>
              <a:rPr lang="en-US" dirty="0">
                <a:effectLst/>
                <a:latin typeface="LEMON MILK Medium" pitchFamily="2" charset="77"/>
              </a:rPr>
              <a:t>: Sets the </a:t>
            </a:r>
            <a:r>
              <a:rPr lang="en-US" b="1" dirty="0">
                <a:effectLst/>
                <a:latin typeface="LEMON MILK Medium" pitchFamily="2" charset="77"/>
              </a:rPr>
              <a:t>game speed</a:t>
            </a:r>
            <a:r>
              <a:rPr lang="en-US" dirty="0">
                <a:effectLst/>
                <a:latin typeface="LEMON MILK Medium" pitchFamily="2" charset="77"/>
              </a:rPr>
              <a:t> (0.12s), which determines how fast the snake moves and how often the screen refreshes. </a:t>
            </a:r>
          </a:p>
          <a:p>
            <a:endParaRPr lang="en-US" dirty="0"/>
          </a:p>
        </p:txBody>
      </p:sp>
      <p:pic>
        <p:nvPicPr>
          <p:cNvPr id="5" name="Picture 4" descr="A computer screen shot of a white rectangle&#10;&#10;Description automatically generated">
            <a:extLst>
              <a:ext uri="{FF2B5EF4-FFF2-40B4-BE49-F238E27FC236}">
                <a16:creationId xmlns:a16="http://schemas.microsoft.com/office/drawing/2014/main" id="{C6842A5E-2528-D98C-6270-EDE598ED9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6100" y="2836264"/>
            <a:ext cx="5283200" cy="2078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192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091F7-D7FE-B7C7-ECC9-B0913A542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273" y="-168576"/>
            <a:ext cx="10131425" cy="1456267"/>
          </a:xfrm>
        </p:spPr>
        <p:txBody>
          <a:bodyPr/>
          <a:lstStyle/>
          <a:p>
            <a:pPr algn="ctr"/>
            <a:r>
              <a:rPr lang="en-US" dirty="0">
                <a:latin typeface="LEMON MILK Medium" pitchFamily="2" charset="77"/>
              </a:rPr>
              <a:t>Game 5: Pacman chase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EEF44-59CE-0CD3-1830-075614708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623" y="1287691"/>
            <a:ext cx="6612177" cy="5208643"/>
          </a:xfrm>
        </p:spPr>
        <p:txBody>
          <a:bodyPr>
            <a:noAutofit/>
          </a:bodyPr>
          <a:lstStyle/>
          <a:p>
            <a:r>
              <a:rPr lang="en-US" b="1" dirty="0">
                <a:latin typeface="LEMON MILK Medium" pitchFamily="2" charset="77"/>
              </a:rPr>
              <a:t>Purpose:</a:t>
            </a:r>
            <a:r>
              <a:rPr lang="en-US" dirty="0">
                <a:latin typeface="LEMON MILK Medium" pitchFamily="2" charset="77"/>
              </a:rPr>
              <a:t> The technical centerpiece. It demonstrates real-time hardware interaction, collision detection, and automated enemy intelligence.</a:t>
            </a:r>
          </a:p>
          <a:p>
            <a:r>
              <a:rPr lang="en-US" b="1" dirty="0">
                <a:latin typeface="LEMON MILK Medium" pitchFamily="2" charset="77"/>
              </a:rPr>
              <a:t>Python Functions &amp; Logic:</a:t>
            </a:r>
            <a:endParaRPr lang="en-US" dirty="0">
              <a:latin typeface="LEMON MILK Medium" pitchFamily="2" charset="7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LEMON MILK Medium" pitchFamily="2" charset="77"/>
              </a:rPr>
              <a:t>curses.initscr</a:t>
            </a:r>
            <a:r>
              <a:rPr lang="en-US" dirty="0">
                <a:latin typeface="LEMON MILK Medium" pitchFamily="2" charset="77"/>
              </a:rPr>
              <a:t>(): Initializes the terminal into "window mode" to allow for coordinate-based graphics rather than scrolling text.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LEMON MILK Medium" pitchFamily="2" charset="77"/>
              </a:rPr>
              <a:t>BFS Algorithm (Breadth-First Search):</a:t>
            </a:r>
            <a:r>
              <a:rPr lang="en-US" dirty="0">
                <a:latin typeface="LEMON MILK Medium" pitchFamily="2" charset="77"/>
              </a:rPr>
              <a:t> A custom function that calculates the shortest path from the ghost to the player's coordinates through the maze.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LEMON MILK Medium" pitchFamily="2" charset="77"/>
              </a:rPr>
              <a:t>stdscr.nodelay</a:t>
            </a:r>
            <a:r>
              <a:rPr lang="en-US" dirty="0">
                <a:latin typeface="LEMON MILK Medium" pitchFamily="2" charset="77"/>
              </a:rPr>
              <a:t>(True): Sets the terminal to "non-blocking" mode, allowing the game loop (and ghosts) to keep moving even if no key is pressed.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LEMON MILK Medium" pitchFamily="2" charset="77"/>
              </a:rPr>
              <a:t>stdscr.getch</a:t>
            </a:r>
            <a:r>
              <a:rPr lang="en-US" dirty="0">
                <a:latin typeface="LEMON MILK Medium" pitchFamily="2" charset="77"/>
              </a:rPr>
              <a:t>(): Captures real-time keyboard hits (Arrow keys) to update the player's X and Y coordinates on the grid.</a:t>
            </a:r>
          </a:p>
        </p:txBody>
      </p:sp>
      <p:pic>
        <p:nvPicPr>
          <p:cNvPr id="5" name="Picture 4" descr="A screenshot of a video game&#10;&#10;Description automatically generated">
            <a:extLst>
              <a:ext uri="{FF2B5EF4-FFF2-40B4-BE49-F238E27FC236}">
                <a16:creationId xmlns:a16="http://schemas.microsoft.com/office/drawing/2014/main" id="{81416DA2-DC09-9569-B382-55C94415C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6900" y="1287691"/>
            <a:ext cx="4775200" cy="4663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153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D0974-5987-8EC9-A700-71FE80028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710" y="-131927"/>
            <a:ext cx="10131425" cy="156754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dirty="0">
                <a:latin typeface="LEMON MILK Medium" pitchFamily="2" charset="77"/>
              </a:rPr>
              <a:t>How to Play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64E147-D470-1389-2F36-433AAF6F769D}"/>
              </a:ext>
            </a:extLst>
          </p:cNvPr>
          <p:cNvSpPr txBox="1"/>
          <p:nvPr/>
        </p:nvSpPr>
        <p:spPr>
          <a:xfrm>
            <a:off x="1030287" y="1212456"/>
            <a:ext cx="1014548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LEMON MILK Medium" pitchFamily="2" charset="77"/>
              </a:rPr>
              <a:t>Ensure that all raspberry </a:t>
            </a:r>
            <a:r>
              <a:rPr lang="en-US" sz="2400" dirty="0" err="1">
                <a:latin typeface="LEMON MILK Medium" pitchFamily="2" charset="77"/>
              </a:rPr>
              <a:t>pis</a:t>
            </a:r>
            <a:r>
              <a:rPr lang="en-US" sz="2400" dirty="0">
                <a:latin typeface="LEMON MILK Medium" pitchFamily="2" charset="77"/>
              </a:rPr>
              <a:t> are on the same network and that python is installed on hardware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LEMON MILK Medium" pitchFamily="2" charset="77"/>
              </a:rPr>
              <a:t> Launch the game (host): open the terminal and navigate to the game folder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LEMON MILK Medium" pitchFamily="2" charset="77"/>
              </a:rPr>
              <a:t> launch the game (player): open the terminal and navigate to the game folder. When prompted type the host’s </a:t>
            </a:r>
            <a:r>
              <a:rPr lang="en-US" sz="2400" dirty="0" err="1">
                <a:latin typeface="LEMON MILK Medium" pitchFamily="2" charset="77"/>
              </a:rPr>
              <a:t>ip</a:t>
            </a:r>
            <a:r>
              <a:rPr lang="en-US" sz="2400" dirty="0">
                <a:latin typeface="LEMON MILK Medium" pitchFamily="2" charset="77"/>
              </a:rPr>
              <a:t> address to join the game.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LEMON MILK Medium" pitchFamily="2" charset="77"/>
              </a:rPr>
              <a:t> 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95F0092F-5033-01B6-0E1A-84652676E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959" y="3919808"/>
            <a:ext cx="7772400" cy="17257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B99C1B7-3F86-6417-7E94-38C1B4983679}"/>
              </a:ext>
            </a:extLst>
          </p:cNvPr>
          <p:cNvSpPr txBox="1"/>
          <p:nvPr/>
        </p:nvSpPr>
        <p:spPr>
          <a:xfrm>
            <a:off x="1187354" y="5744491"/>
            <a:ext cx="95261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LEMON MILK Medium" pitchFamily="2" charset="77"/>
              </a:rPr>
              <a:t>5. Let’s play</a:t>
            </a:r>
            <a:r>
              <a:rPr lang="en-US" sz="24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5599028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6476F"/>
      </a:dk2>
      <a:lt2>
        <a:srgbClr val="EBEBEB"/>
      </a:lt2>
      <a:accent1>
        <a:srgbClr val="E5B458"/>
      </a:accent1>
      <a:accent2>
        <a:srgbClr val="F77754"/>
      </a:accent2>
      <a:accent3>
        <a:srgbClr val="D8507E"/>
      </a:accent3>
      <a:accent4>
        <a:srgbClr val="BC70EE"/>
      </a:accent4>
      <a:accent5>
        <a:srgbClr val="3CA2E2"/>
      </a:accent5>
      <a:accent6>
        <a:srgbClr val="91BF77"/>
      </a:accent6>
      <a:hlink>
        <a:srgbClr val="71DDAB"/>
      </a:hlink>
      <a:folHlink>
        <a:srgbClr val="A6E4C7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B36E0D05-787B-4C61-8268-2D6C1FBEDA3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7113</TotalTime>
  <Words>837</Words>
  <Application>Microsoft Macintosh PowerPoint</Application>
  <PresentationFormat>Widescreen</PresentationFormat>
  <Paragraphs>47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LEMON MILK Medium</vt:lpstr>
      <vt:lpstr>Celestial</vt:lpstr>
      <vt:lpstr>PowerPoint Presentation</vt:lpstr>
      <vt:lpstr>How the system operates</vt:lpstr>
      <vt:lpstr>Game 1: Heads or Tails</vt:lpstr>
      <vt:lpstr>Game 2: Rock, Paper, Scissors</vt:lpstr>
      <vt:lpstr>Game 3: Number Guessing Game</vt:lpstr>
      <vt:lpstr>GAME 4: Snake </vt:lpstr>
      <vt:lpstr>Game 5: Pacman chase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Gabrielle Panuelos</dc:creator>
  <cp:lastModifiedBy>Gabrielle Panuelos</cp:lastModifiedBy>
  <cp:revision>4</cp:revision>
  <dcterms:created xsi:type="dcterms:W3CDTF">2026-04-28T13:36:38Z</dcterms:created>
  <dcterms:modified xsi:type="dcterms:W3CDTF">2026-05-05T22:18:56Z</dcterms:modified>
</cp:coreProperties>
</file>