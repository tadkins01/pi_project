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1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r" defTabSz="457200">
              <a:tabLst>
                <a:tab pos="0" algn="l"/>
              </a:tabLst>
            </a:pPr>
            <a:r>
              <a:rPr lang="en-US" sz="4800" b="0" u="none" strike="noStrike" cap="all">
                <a:solidFill>
                  <a:schemeClr val="lt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8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5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ftr" idx="5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sldNum" idx="5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6ECBD4C-6D2D-4A4F-B84A-83D350458DC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658720" y="609480"/>
            <a:ext cx="2157840" cy="518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85800" y="609480"/>
            <a:ext cx="7831440" cy="518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C8BCA7C-CFB1-422E-8BC1-B68ED4A9ED3F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5FB2A6F-7C28-4ADA-A9EE-A2DFE3724969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3308760"/>
            <a:ext cx="1013076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40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85800" y="4777560"/>
            <a:ext cx="1013076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000" b="0" u="none" strike="noStrike" cap="all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000" b="0" u="none" strike="noStrike" cap="all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000" b="0" u="none" strike="noStrike" cap="all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CFCD5CA-5B01-4A21-A9C5-0CCAA0B61694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85800" y="2142000"/>
            <a:ext cx="4994640" cy="364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5821920" y="2142000"/>
            <a:ext cx="4994640" cy="364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0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1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2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470ABAD-6B43-485E-9AFF-40F9D59A52DF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973800" y="2218320"/>
            <a:ext cx="470844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85800" y="2870280"/>
            <a:ext cx="4996080" cy="292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095880" y="2226600"/>
            <a:ext cx="472212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823360" y="2870280"/>
            <a:ext cx="4994640" cy="292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13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ftr" idx="14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sldNum" idx="15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CCB0756-A1FF-44B3-8E6A-8BC8C1EB40B5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5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6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17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18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1E0421A-7680-4354-8599-A705BC6618BC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dt" idx="19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20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21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2BE111B-DC42-4988-A877-38D06BB0E327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85800" y="2074320"/>
            <a:ext cx="3680280" cy="137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24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648320" y="609480"/>
            <a:ext cx="6168240" cy="518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85800" y="3445920"/>
            <a:ext cx="3680280" cy="182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2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3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24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F77A837-AABD-4FB6-AF36-FD31C05A9721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3920" cy="1370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8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28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536240" y="914400"/>
            <a:ext cx="3280320" cy="4571280"/>
          </a:xfrm>
          <a:prstGeom prst="rect">
            <a:avLst/>
          </a:prstGeom>
          <a:noFill/>
          <a:ln cap="sq" w="50760">
            <a:solidFill>
              <a:srgbClr val="FFFFFF"/>
            </a:solidFill>
            <a:miter/>
          </a:ln>
          <a:effectLst>
            <a:outerShdw dist="0" dir="0" blurRad="2541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icon to add picture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85800" y="2971800"/>
            <a:ext cx="6163920" cy="182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25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26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27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B1B26C3-1CF8-477E-AA96-F6959025695D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6" descr="Celestia-R1---OverlayTitle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962520" y="1964160"/>
            <a:ext cx="7197120" cy="242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48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48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dt" idx="28"/>
          </p:nvPr>
        </p:nvSpPr>
        <p:spPr>
          <a:xfrm>
            <a:off x="893268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ftr" idx="29"/>
          </p:nvPr>
        </p:nvSpPr>
        <p:spPr>
          <a:xfrm>
            <a:off x="3962520" y="5870520"/>
            <a:ext cx="489312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sldNum" idx="30"/>
          </p:nvPr>
        </p:nvSpPr>
        <p:spPr>
          <a:xfrm>
            <a:off x="1060884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31368D3-6855-476C-8305-002EC939C167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7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Outline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Outline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Outline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Outline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noramic 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4732920"/>
            <a:ext cx="1013076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24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1371600" y="932040"/>
            <a:ext cx="8759160" cy="3164400"/>
          </a:xfrm>
          <a:prstGeom prst="rect">
            <a:avLst/>
          </a:prstGeom>
          <a:noFill/>
          <a:ln cap="sq" w="50760">
            <a:solidFill>
              <a:srgbClr val="FFFFFF"/>
            </a:solidFill>
            <a:miter/>
          </a:ln>
          <a:effectLst>
            <a:outerShdw dist="0" dir="0" blurRad="254160" rotWithShape="0">
              <a:srgbClr val="000000">
                <a:alpha val="43000"/>
              </a:srgbClr>
            </a:outerShdw>
          </a:effectLst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icon to add picture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685800" y="5299560"/>
            <a:ext cx="10130760" cy="49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1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2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3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7D4E72D-9C00-4AF4-BEB6-611565818B73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6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31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101307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34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ftr" idx="35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sldNum" idx="36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A30DCE5-7C2E-4128-929E-7B70510F9CCE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10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11"/>
          <p:cNvSpPr/>
          <p:nvPr/>
        </p:nvSpPr>
        <p:spPr>
          <a:xfrm>
            <a:off x="10238040" y="2743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”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488160" y="82332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“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992160" y="609480"/>
            <a:ext cx="9549720" cy="274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1098000" y="3352680"/>
            <a:ext cx="9338400" cy="38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687600" y="4343400"/>
            <a:ext cx="1015164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dt" idx="37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ftr" idx="38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sldNum" idx="39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0B4F7FE-AA02-4DE0-BC6D-612C6EFA9D56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6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85800" y="3308760"/>
            <a:ext cx="1013076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85800" y="4777560"/>
            <a:ext cx="10130760" cy="85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40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41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42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8A1D449-4741-48C7-8918-A8118F2169DD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10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Box 12"/>
          <p:cNvSpPr/>
          <p:nvPr/>
        </p:nvSpPr>
        <p:spPr>
          <a:xfrm>
            <a:off x="10238040" y="274320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”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3"/>
          <p:cNvSpPr/>
          <p:nvPr/>
        </p:nvSpPr>
        <p:spPr>
          <a:xfrm>
            <a:off x="488160" y="823320"/>
            <a:ext cx="608760" cy="58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8000" b="0" u="none" strike="noStrike" cap="all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“</a:t>
            </a:r>
            <a:endParaRPr lang="en-U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992160" y="609480"/>
            <a:ext cx="9549720" cy="274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3886200"/>
            <a:ext cx="10134720" cy="888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85800" y="4775040"/>
            <a:ext cx="10134720" cy="101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43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44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45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0C975B4-A4ED-4944-AB06-E13C8284C9E0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7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274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3505320"/>
            <a:ext cx="10130760" cy="837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10130760" cy="144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dt" idx="46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ftr" idx="47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6"/>
          <p:cNvSpPr>
            <a:spLocks noGrp="1"/>
          </p:cNvSpPr>
          <p:nvPr>
            <p:ph type="sldNum" idx="48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B4F1259-E496-42B3-BBF8-F91E3B5EB8CF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6" descr="Celestia-R1---OverlayContentHD.png"/>
          <p:cNvPicPr/>
          <p:nvPr/>
        </p:nvPicPr>
        <p:blipFill>
          <a:blip r:embed="rId3"/>
          <a:stretch/>
        </p:blipFill>
        <p:spPr>
          <a:xfrm>
            <a:off x="0" y="0"/>
            <a:ext cx="1218816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cap="all">
                <a:solidFill>
                  <a:schemeClr val="lt1"/>
                </a:solidFill>
                <a:effectLst/>
                <a:uFillTx/>
                <a:latin typeface="Calibri Light"/>
                <a:ea typeface="Arial"/>
              </a:rPr>
              <a:t>Click to edit Master title style</a:t>
            </a:r>
            <a:endParaRPr lang="en-US" sz="36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2142000"/>
            <a:ext cx="10130760" cy="364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  <a:lvl2pPr lvl="1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2pPr>
            <a:lvl3pPr lvl="2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3pPr>
            <a:lvl4pPr lvl="3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4pPr>
            <a:lvl5pPr lvl="4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  <a:def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5pPr>
          </a:lstStyle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Click to edit Master text styles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Second level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2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Third level</a:t>
            </a:r>
            <a:endParaRPr lang="en-US" sz="1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3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Fourth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00160" lvl="4" indent="-17136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Fifth level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49"/>
          </p:nvPr>
        </p:nvSpPr>
        <p:spPr>
          <a:xfrm>
            <a:off x="8589600" y="5870520"/>
            <a:ext cx="159948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ftr" idx="50"/>
          </p:nvPr>
        </p:nvSpPr>
        <p:spPr>
          <a:xfrm>
            <a:off x="685800" y="5870520"/>
            <a:ext cx="782676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sldNum" idx="51"/>
          </p:nvPr>
        </p:nvSpPr>
        <p:spPr>
          <a:xfrm>
            <a:off x="10266120" y="5870520"/>
            <a:ext cx="550440" cy="37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193A532-4B16-4941-BBEE-75C24EEE2B43}" type="slidenum">
              <a:rPr lang="en-US" sz="1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0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ubTitle"/>
          </p:nvPr>
        </p:nvSpPr>
        <p:spPr>
          <a:xfrm>
            <a:off x="1287000" y="5255280"/>
            <a:ext cx="10904400" cy="50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r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2800" b="1" u="none" strike="noStrike" cap="all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Gabrielle , Micah , Thomas, and Izaiah 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Picture 7" descr="A blue text on a black background&#10;&#10;Description automatically generated"/>
          <p:cNvSpPr/>
          <p:nvPr/>
        </p:nvSpPr>
        <p:spPr>
          <a:xfrm>
            <a:off x="109440" y="1417320"/>
            <a:ext cx="11972520" cy="3621240"/>
          </a:xfrm>
          <a:prstGeom prst="roundRect">
            <a:avLst>
              <a:gd name="adj" fmla="val 4380"/>
            </a:avLst>
          </a:prstGeom>
          <a:blipFill rotWithShape="0">
            <a:blip r:embed="rId2"/>
            <a:srcRect/>
            <a:stretch/>
          </a:blipFill>
          <a:ln cap="sq" w="50800">
            <a:solidFill>
              <a:srgbClr val="FFFFFF"/>
            </a:solidFill>
            <a:miter/>
          </a:ln>
          <a:effectLst>
            <a:outerShdw algn="tl" blurRad="254160" rotWithShape="0">
              <a:srgbClr val="000000">
                <a:alpha val="4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975240" y="0"/>
            <a:ext cx="10005840" cy="13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1" u="none" strike="noStrike" cap="all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How the system operates</a:t>
            </a:r>
            <a:endParaRPr lang="en-US" sz="54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50520" y="1204920"/>
            <a:ext cx="10709280" cy="5362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Client-Server Architecture: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One Raspberry Pi acts as the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Host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(the brain), while all other Pis connect as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Clients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(the controllers).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Star Topology: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Every player communicates directly with the Host, ensuring all participants see the exact same game state at the same time.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TCP/IP Networking: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Uses "Transmission Control Protocol" to ensure game data (like moves and scores) arrives reliably and in the correct order across the local network.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Terminal Rendering: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Instead of heavy graphics, the system uses the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Curses library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to "draw" game boards and animations using text characters and colors.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Non-Blocking Input: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The system is programmed to keep the game moving (like ghosts chasing you) even if a player isn't pressing any buttons.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Automated Logic: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The Host runs pathfinding algorithms (BFS) for enemies, ensuring the game provides a consistent challenge for all connected players.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17640" y="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1" u="none" strike="noStrike" cap="all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Game 1: Heads or Tails</a:t>
            </a:r>
            <a:endParaRPr lang="en-US" sz="54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293400" y="1227600"/>
            <a:ext cx="6325200" cy="532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Purpose: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A quick-fire test of the network's ability to handle rapid-response binary choices and synchronized resolution.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Python Functions &amp; Logic: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random.choice(['Heads', 'Tails']): Used by the server to determine the winning outcome.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input().strip().upper(): Captures the player's choice and cleans the data before sending.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send_data() / recv_data(): Custom wrapper functions for socket.send() and socket.recv() to exchange JSON packets between the Pi and the Host.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4" descr="A screenshot of a computer screen&#10;&#10;Description automatically generated"/>
          <p:cNvPicPr/>
          <p:nvPr/>
        </p:nvPicPr>
        <p:blipFill>
          <a:blip r:embed="rId1"/>
          <a:stretch/>
        </p:blipFill>
        <p:spPr>
          <a:xfrm>
            <a:off x="6619320" y="2038320"/>
            <a:ext cx="5278680" cy="341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25640" y="-214200"/>
            <a:ext cx="1177200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1" u="none" strike="noStrike" cap="all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Game 2: Rock, Paper, Scissors</a:t>
            </a:r>
            <a:endParaRPr lang="en-US" sz="54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28880" y="1145160"/>
            <a:ext cx="6666480" cy="532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Purpose: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Demonstrates server-side logic validation where the Host must compare multiple client inputs against a central "AI" move.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Python Functions &amp; Logic: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Logic Mapping: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Uses a Dictionary or Nested if/elif statements to define win/loss/tie conditions (e.g., if user == 'R' and computer == 'S').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time.sleep(): Orchestrates the "Rock... Paper... Scissors... Shoot!" countdown across all connected terminals.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json.dumps(): Converts the player's move into a string format that can be transmitted over the TCP socket.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Picture 6" descr="A screen shot of a computer screen&#10;&#10;Description automatically generated"/>
          <p:cNvPicPr/>
          <p:nvPr/>
        </p:nvPicPr>
        <p:blipFill>
          <a:blip r:embed="rId1"/>
          <a:stretch/>
        </p:blipFill>
        <p:spPr>
          <a:xfrm>
            <a:off x="6603840" y="2338920"/>
            <a:ext cx="5484240" cy="270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-158400" y="-193320"/>
            <a:ext cx="12349440" cy="135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1" u="none" strike="noStrike" cap="all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Game 3: Number Guessing Game</a:t>
            </a:r>
            <a:endParaRPr lang="en-US" sz="54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178920" y="1160640"/>
            <a:ext cx="5837040" cy="549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lnSpcReduction="9999"/>
          </a:bodyPr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Purpose: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Showcases mathematical processing and "Shortest Distance" algorithms to determine a winner among multiple participants.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Python Functions &amp; Logic: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random.randint(1, 100): Generates the secret target number on the Host machine.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abs(target - guess): The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Absolute Value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function calculates how far each player is from the target, regardless of whether they guessed too high or too low.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min(): Applied to a list of player distances to identify the "closest" guess and declare the round winner.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2" name="Picture 4" descr="A purple and blue text&#10;&#10;Description automatically generated"/>
          <p:cNvPicPr/>
          <p:nvPr/>
        </p:nvPicPr>
        <p:blipFill>
          <a:blip r:embed="rId1"/>
          <a:srcRect l="0" t="8172" r="0" b="5618"/>
          <a:stretch/>
        </p:blipFill>
        <p:spPr>
          <a:xfrm>
            <a:off x="5759640" y="2917440"/>
            <a:ext cx="6338160" cy="104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85800" y="-16416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1" u="none" strike="noStrike" cap="all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GAME 4: Snake </a:t>
            </a:r>
            <a:endParaRPr lang="en-US" sz="54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114480" y="1103400"/>
            <a:ext cx="6920640" cy="575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 lnSpcReduction="9999"/>
          </a:bodyPr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Purpose: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Demonstrates real-time coordination tracking and collision detection within a terminal environment. 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Python Functions &amp; Logic: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curses.wrapper()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: Switches the terminal into a "game window" that allows for colored graphics and exact positioning of characters. 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Coordinate Management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: Stores the snake's body as a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list of (x, y) points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to track every segment on the 28 X 14 grid. 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_is_wall()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: A boundary check that ends the game instantly if the snake's head hits the edge of the grid. 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_spawn_apple()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: scans for empty spaces to ensure new apples don't appear inside walls or the snake's body. 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stdscr.timeout()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: Sets the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game speed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(0.12s), which determines how fast the snake moves and how often the screen refreshes. 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5" name="Picture 4" descr="A computer screen shot of a white rectangle&#10;&#10;Description automatically generated"/>
          <p:cNvPicPr/>
          <p:nvPr/>
        </p:nvPicPr>
        <p:blipFill>
          <a:blip r:embed="rId1"/>
          <a:stretch/>
        </p:blipFill>
        <p:spPr>
          <a:xfrm>
            <a:off x="6896160" y="2836440"/>
            <a:ext cx="5282640" cy="207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20360" y="-168480"/>
            <a:ext cx="10130760" cy="1455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1" u="none" strike="noStrike" cap="all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Game 5: Pacman chase</a:t>
            </a:r>
            <a:endParaRPr lang="en-US" sz="5400" b="0" u="none" strike="noStrike" cap="all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178560" y="1208520"/>
            <a:ext cx="6611400" cy="520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Purpose:</a:t>
            </a: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The technical centerpiece. It demonstrates real-time hardware interaction, collision detection, and automated enemy intelligence.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Python Functions &amp; Logic: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curses.initscr(): Initializes the terminal into "window mode" to allow for coordinate-based graphics rather than scrolling text.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BFS Algorithm (Breadth-First Search):</a:t>
            </a: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A custom function that calculates the shortest path from the ghost to the player's coordinates through the maze.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stdscr.nodelay(True): Sets the terminal to "non-blocking" mode, allowing the game loop (and ghosts) to keep moving even if no key is pressed.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85840" indent="-285840" algn="l" defTabSz="457200">
              <a:lnSpc>
                <a:spcPct val="100000"/>
              </a:lnSpc>
              <a:spcAft>
                <a:spcPts val="1001"/>
              </a:spcAft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stdscr.getch(): Captures real-time keyboard hits (Arrow keys) to update the player's X and Y coordinates on the grid.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8" name="Picture 4" descr="A screenshot of a video game&#10;&#10;Description automatically generated"/>
          <p:cNvPicPr/>
          <p:nvPr/>
        </p:nvPicPr>
        <p:blipFill>
          <a:blip r:embed="rId1"/>
          <a:stretch/>
        </p:blipFill>
        <p:spPr>
          <a:xfrm>
            <a:off x="6946920" y="1287720"/>
            <a:ext cx="4774320" cy="466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/>
          </p:nvPr>
        </p:nvSpPr>
        <p:spPr>
          <a:xfrm>
            <a:off x="884880" y="-131760"/>
            <a:ext cx="10130760" cy="156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457200">
              <a:lnSpc>
                <a:spcPct val="100000"/>
              </a:lnSpc>
              <a:spcAft>
                <a:spcPts val="1001"/>
              </a:spcAft>
              <a:buNone/>
              <a:tabLst>
                <a:tab pos="0" algn="l"/>
              </a:tabLst>
            </a:pPr>
            <a:r>
              <a:rPr lang="en-US" sz="54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How to Play</a:t>
            </a:r>
            <a:endParaRPr lang="en-US" sz="5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1030320" y="1212480"/>
            <a:ext cx="10144800" cy="23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Ensure that all raspberry pis are on the same network and that python is installed on hardware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Launch the game (host): open the terminal and navigate to the game folder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launch the game (player): open the terminal and navigate to the game folder. When prompted type the host’s IP address to join the game.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FFFFFF"/>
              </a:buClr>
              <a:buFont typeface="Calibri Light"/>
              <a:buAutoNum type="arabicPeriod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1" name="Picture 5" descr="A screenshot of a computer&#10;&#10;Description automatically generated"/>
          <p:cNvPicPr/>
          <p:nvPr/>
        </p:nvPicPr>
        <p:blipFill>
          <a:blip r:embed="rId1"/>
          <a:stretch/>
        </p:blipFill>
        <p:spPr>
          <a:xfrm>
            <a:off x="1465200" y="3207600"/>
            <a:ext cx="7771680" cy="17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Box 6"/>
          <p:cNvSpPr/>
          <p:nvPr/>
        </p:nvSpPr>
        <p:spPr>
          <a:xfrm>
            <a:off x="968760" y="4933440"/>
            <a:ext cx="9525240" cy="4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rial"/>
              </a:rPr>
              <a:t>5. Let’s play!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Picture 5" descr="A screenshot of a computer&#10;&#10;Description automatically generated"/>
          <p:cNvPicPr/>
          <p:nvPr/>
        </p:nvPicPr>
        <p:blipFill>
          <a:blip r:embed="rId2"/>
          <a:srcRect l="74536" t="81275" r="1752" b="3996"/>
          <a:stretch/>
        </p:blipFill>
        <p:spPr>
          <a:xfrm>
            <a:off x="1519920" y="4260600"/>
            <a:ext cx="2514240" cy="253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1" descr="A screenshot of a computer&#10;&#10;Description automatically generated"/>
          <p:cNvPicPr/>
          <p:nvPr/>
        </p:nvPicPr>
        <p:blipFill>
          <a:blip r:embed="rId3"/>
          <a:srcRect l="74536" t="81275" r="1752" b="3996"/>
          <a:stretch/>
        </p:blipFill>
        <p:spPr>
          <a:xfrm>
            <a:off x="5704560" y="4273560"/>
            <a:ext cx="2514240" cy="25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"/>
          <p:cNvSpPr/>
          <p:nvPr/>
        </p:nvSpPr>
        <p:spPr>
          <a:xfrm>
            <a:off x="5679000" y="4275000"/>
            <a:ext cx="1407240" cy="3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Use </a:t>
            </a: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WASD</a:t>
            </a: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to move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483920" y="4275360"/>
            <a:ext cx="25142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Noto Sans CJK SC"/>
              </a:rPr>
              <a:t> </a:t>
            </a: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  <a:ea typeface="Noto Sans CJK SC"/>
              </a:rPr>
              <a:t>PacMan Chase</a:t>
            </a: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Noto Sans CJK SC"/>
              </a:rPr>
              <a:t> </a:t>
            </a: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and the </a:t>
            </a: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Snake Game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Celestial">
  <a:themeElements>
    <a:clrScheme name="Celestial">
      <a:dk1>
        <a:srgbClr val="000000"/>
      </a:dk1>
      <a:lt1>
        <a:srgbClr val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lumMod val="110000"/>
              </a:schemeClr>
            </a:gs>
            <a:gs pos="100000">
              <a:schemeClr val="phClr">
                <a:shade val="96000"/>
                <a:lumMod val="100000"/>
              </a:schemeClr>
            </a:gs>
          </a:gsLst>
          <a:lin ang="4740000" scaled="1"/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9</TotalTime>
  <Application>LibreOffice/26.2.3.2$Linux_X86_64 LibreOffice_project/a31940f583db492bb69b3a601caf6d1b0ecf61f1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2026-04-28T13:36:38Z</dcterms:created>
  <dc:creator>Gabrielle Panuelos</dc:creator>
  <dc:description/>
  <dc:language>en-US</dc:language>
  <cp:lastModifiedBy/>
  <dcterms:modified xsi:type="dcterms:W3CDTF">2026-05-06T16:32:37Z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8</vt:i4>
  </property>
  <property fmtid="{D5CDD505-2E9C-101B-9397-08002B2CF9AE}" pid="4" name="PresentationFormat">
    <vt:lpwstr>On-screen Show (4:3)</vt:lpwstr>
  </property>
  <property fmtid="{D5CDD505-2E9C-101B-9397-08002B2CF9AE}" pid="5" name="Slides">
    <vt:i4>8</vt:i4>
  </property>
</Properties>
</file>